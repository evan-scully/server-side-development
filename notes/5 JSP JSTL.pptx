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4" r:id="rId29"/>
    <p:sldId id="292" r:id="rId30"/>
    <p:sldId id="293" r:id="rId31"/>
    <p:sldId id="291" r:id="rId32"/>
    <p:sldId id="295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5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13/10/2020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Server-side 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JSP/JSTL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45BB-CA23-431C-8333-A6B3D3FF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JSTL –Recap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526B-A16B-4DB4-A1A1-04E10D886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JSP Standard Template Library. https://github.com/eclipse-ee4j/jstl-api/releases</a:t>
            </a:r>
          </a:p>
          <a:p>
            <a:r>
              <a:rPr lang="en-IE" dirty="0"/>
              <a:t>Two JAR files</a:t>
            </a:r>
          </a:p>
          <a:p>
            <a:pPr marL="0" indent="0">
              <a:buNone/>
            </a:pPr>
            <a:r>
              <a:rPr lang="en-IE" dirty="0"/>
              <a:t>	1.javax.servlet.jsp.jstl-1.2.1.jar</a:t>
            </a:r>
          </a:p>
          <a:p>
            <a:pPr marL="0" indent="0">
              <a:buNone/>
            </a:pPr>
            <a:r>
              <a:rPr lang="en-IE" dirty="0"/>
              <a:t>	2.javax.servlet.jsp.jstl-api-1.2.1.jar</a:t>
            </a:r>
          </a:p>
          <a:p>
            <a:r>
              <a:rPr lang="en-IE" dirty="0"/>
              <a:t>Five libraries</a:t>
            </a:r>
          </a:p>
          <a:p>
            <a:pPr marL="0" indent="0">
              <a:buNone/>
            </a:pPr>
            <a:r>
              <a:rPr lang="en-IE" dirty="0"/>
              <a:t>	1.core, </a:t>
            </a:r>
          </a:p>
          <a:p>
            <a:pPr marL="0" indent="0">
              <a:buNone/>
            </a:pPr>
            <a:r>
              <a:rPr lang="en-IE" dirty="0"/>
              <a:t>	2.formatting, </a:t>
            </a:r>
          </a:p>
          <a:p>
            <a:pPr marL="0" indent="0">
              <a:buNone/>
            </a:pPr>
            <a:r>
              <a:rPr lang="en-IE" dirty="0"/>
              <a:t>	3.SQL, </a:t>
            </a:r>
          </a:p>
          <a:p>
            <a:pPr marL="0" indent="0">
              <a:buNone/>
            </a:pPr>
            <a:r>
              <a:rPr lang="en-IE" dirty="0"/>
              <a:t>	4.XML, </a:t>
            </a:r>
          </a:p>
          <a:p>
            <a:pPr marL="0" indent="0">
              <a:buNone/>
            </a:pPr>
            <a:r>
              <a:rPr lang="en-IE" dirty="0"/>
              <a:t>	5.Functions</a:t>
            </a:r>
          </a:p>
          <a:p>
            <a:r>
              <a:rPr lang="en-IE" dirty="0"/>
              <a:t>We use the core library.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9267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0CB4-0B7C-4480-B40F-B5983878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JSP-Recap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6D1C-B02D-4948-9AF1-353DB509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Uses the JSP Standard Tag Library (JSTL)</a:t>
            </a:r>
          </a:p>
          <a:p>
            <a:r>
              <a:rPr lang="en-IE" dirty="0"/>
              <a:t>More specifically it only uses the </a:t>
            </a:r>
            <a:r>
              <a:rPr lang="en-IE" dirty="0" err="1"/>
              <a:t>coretags</a:t>
            </a:r>
            <a:endParaRPr lang="en-IE" dirty="0"/>
          </a:p>
          <a:p>
            <a:pPr marL="457200" lvl="1" indent="0">
              <a:buNone/>
            </a:pPr>
            <a:r>
              <a:rPr lang="pt-BR" dirty="0"/>
              <a:t>[&lt;%@ taglib uri="http://java.sun.com/jsp/jstl/core" prefix="c" %&gt;]</a:t>
            </a:r>
          </a:p>
          <a:p>
            <a:r>
              <a:rPr lang="en-IE" dirty="0"/>
              <a:t>To reference these tags it uses the </a:t>
            </a:r>
            <a:r>
              <a:rPr lang="en-IE" b="1" dirty="0"/>
              <a:t>c </a:t>
            </a:r>
            <a:r>
              <a:rPr lang="en-IE" dirty="0"/>
              <a:t>prefix</a:t>
            </a:r>
          </a:p>
          <a:p>
            <a:r>
              <a:rPr lang="en-IE" dirty="0"/>
              <a:t>References the User (model) properties using the notation ${user.name} and ${</a:t>
            </a:r>
            <a:r>
              <a:rPr lang="en-IE" dirty="0" err="1"/>
              <a:t>user.address</a:t>
            </a:r>
            <a:r>
              <a:rPr lang="en-IE" dirty="0"/>
              <a:t>}</a:t>
            </a:r>
          </a:p>
          <a:p>
            <a:r>
              <a:rPr lang="en-IE" dirty="0"/>
              <a:t>Prints out the name and address using the </a:t>
            </a:r>
            <a:r>
              <a:rPr lang="en-IE" b="1" dirty="0"/>
              <a:t>out </a:t>
            </a:r>
            <a:r>
              <a:rPr lang="en-IE" dirty="0"/>
              <a:t>tag in the JSP core library.</a:t>
            </a:r>
          </a:p>
          <a:p>
            <a:r>
              <a:rPr lang="en-IE" dirty="0"/>
              <a:t>&lt;</a:t>
            </a:r>
            <a:r>
              <a:rPr lang="en-IE" dirty="0" err="1"/>
              <a:t>c:out</a:t>
            </a:r>
            <a:r>
              <a:rPr lang="en-IE" dirty="0"/>
              <a:t> value="${user.name}"/&gt;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3380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1EF5-7717-4128-98AB-1E821161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-Overview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27B12-E37B-4AD1-B0D9-0A6D4FF4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JSP is a view technology.</a:t>
            </a:r>
          </a:p>
          <a:p>
            <a:r>
              <a:rPr lang="en-IE" dirty="0"/>
              <a:t>It removes the need for lots of print statements in a servlet.</a:t>
            </a:r>
          </a:p>
          <a:p>
            <a:r>
              <a:rPr lang="en-IE" dirty="0"/>
              <a:t>In a view technology, the default is text, and variables are accessed using ${} notation.</a:t>
            </a:r>
          </a:p>
          <a:p>
            <a:r>
              <a:rPr lang="en-IE" dirty="0"/>
              <a:t>This is in contrast to a program (servlet) where the default is code and text is put in quotes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5423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5AFD-C662-4E21-9B7B-FCE01FE3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–Some basic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B12E6-D72D-46B3-810C-EA86A7EC7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&lt;</a:t>
            </a:r>
            <a:r>
              <a:rPr lang="en-IE" dirty="0" err="1"/>
              <a:t>jsp:include</a:t>
            </a:r>
            <a:r>
              <a:rPr lang="en-IE" dirty="0"/>
              <a:t> page=″</a:t>
            </a:r>
            <a:r>
              <a:rPr lang="en-IE" dirty="0" err="1"/>
              <a:t>b.jsp</a:t>
            </a:r>
            <a:r>
              <a:rPr lang="en-IE" dirty="0"/>
              <a:t>″ &gt;</a:t>
            </a:r>
          </a:p>
          <a:p>
            <a:pPr marL="457200" lvl="1" indent="0">
              <a:buNone/>
            </a:pPr>
            <a:r>
              <a:rPr lang="en-IE" dirty="0"/>
              <a:t>often used for header and footers</a:t>
            </a:r>
          </a:p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&lt;</a:t>
            </a:r>
            <a:r>
              <a:rPr lang="en-IE" dirty="0" err="1"/>
              <a:t>jsp:forward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can forward to another JSP page.</a:t>
            </a:r>
          </a:p>
        </p:txBody>
      </p:sp>
    </p:spTree>
    <p:extLst>
      <p:ext uri="{BB962C8B-B14F-4D97-AF65-F5344CB8AC3E}">
        <p14:creationId xmlns:p14="http://schemas.microsoft.com/office/powerpoint/2010/main" val="248945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2AC6-D8C9-4EDE-AACB-DD62A1E0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–History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B152-37DE-4CBD-AA85-1A9E0CDD4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JSP has been around for a while and has evolved substantially.</a:t>
            </a:r>
          </a:p>
          <a:p>
            <a:endParaRPr lang="en-IE" dirty="0"/>
          </a:p>
          <a:p>
            <a:r>
              <a:rPr lang="en-IE" dirty="0"/>
              <a:t>Some approaches that were standard JSP in the early years are now deprecated. (</a:t>
            </a:r>
            <a:r>
              <a:rPr lang="en-IE" dirty="0" err="1"/>
              <a:t>scriptlets</a:t>
            </a:r>
            <a:r>
              <a:rPr lang="en-IE" dirty="0"/>
              <a:t>)</a:t>
            </a:r>
          </a:p>
          <a:p>
            <a:endParaRPr lang="en-IE" dirty="0"/>
          </a:p>
          <a:p>
            <a:r>
              <a:rPr lang="en-IE" dirty="0"/>
              <a:t>Other parts of JSP have been effectively replaced by new approaches.</a:t>
            </a:r>
          </a:p>
        </p:txBody>
      </p:sp>
    </p:spTree>
    <p:extLst>
      <p:ext uri="{BB962C8B-B14F-4D97-AF65-F5344CB8AC3E}">
        <p14:creationId xmlns:p14="http://schemas.microsoft.com/office/powerpoint/2010/main" val="329530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A049-1015-41B5-840B-4F9C7C81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–Parts of JSP not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53F8A-117D-4DD3-8326-6ADAB8B8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 err="1"/>
              <a:t>Scriptletsin</a:t>
            </a:r>
            <a:r>
              <a:rPr lang="en-IE" dirty="0"/>
              <a:t> JSP (&lt;% … %&gt;) as they are now deprecated.</a:t>
            </a:r>
          </a:p>
          <a:p>
            <a:r>
              <a:rPr lang="en-IE" dirty="0" err="1"/>
              <a:t>Scriptlets</a:t>
            </a:r>
            <a:r>
              <a:rPr lang="en-IE" dirty="0"/>
              <a:t> can contain Java code, for example </a:t>
            </a:r>
            <a:r>
              <a:rPr lang="en-IE" dirty="0" err="1"/>
              <a:t>System.out.println</a:t>
            </a:r>
            <a:r>
              <a:rPr lang="en-IE" dirty="0"/>
              <a:t>().</a:t>
            </a:r>
          </a:p>
          <a:p>
            <a:r>
              <a:rPr lang="en-IE" dirty="0"/>
              <a:t>&lt;</a:t>
            </a:r>
            <a:r>
              <a:rPr lang="en-IE" dirty="0" err="1"/>
              <a:t>jsp:usebean</a:t>
            </a:r>
            <a:r>
              <a:rPr lang="en-IE" dirty="0"/>
              <a:t>&gt;, as JSP  expression language (EL) is a better way.</a:t>
            </a:r>
          </a:p>
          <a:p>
            <a:r>
              <a:rPr lang="en-IE" dirty="0"/>
              <a:t>Also with other JSP tags.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56455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E94C-68FA-4ABF-AD86-C2831DB4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–How does it fit with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60A10-3E70-4E6C-93C1-853358886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controller is often implemented as a Servlet.</a:t>
            </a:r>
          </a:p>
          <a:p>
            <a:r>
              <a:rPr lang="en-IE" dirty="0"/>
              <a:t>The view is usually implemented in JSP.</a:t>
            </a:r>
          </a:p>
          <a:p>
            <a:r>
              <a:rPr lang="en-IE" dirty="0"/>
              <a:t>The actions should be carried out in the controller (Servlet) and not in the view (JSP).</a:t>
            </a:r>
          </a:p>
          <a:p>
            <a:r>
              <a:rPr lang="en-IE" dirty="0"/>
              <a:t>Hence no need for </a:t>
            </a:r>
            <a:r>
              <a:rPr lang="en-IE" dirty="0" err="1"/>
              <a:t>Scriptlets</a:t>
            </a:r>
            <a:r>
              <a:rPr lang="en-IE" dirty="0"/>
              <a:t>.</a:t>
            </a:r>
          </a:p>
          <a:p>
            <a:r>
              <a:rPr lang="en-IE" dirty="0"/>
              <a:t>JSP can access properties of JavaBeans through the Expression Language (EL).</a:t>
            </a:r>
          </a:p>
        </p:txBody>
      </p:sp>
    </p:spTree>
    <p:extLst>
      <p:ext uri="{BB962C8B-B14F-4D97-AF65-F5344CB8AC3E}">
        <p14:creationId xmlns:p14="http://schemas.microsoft.com/office/powerpoint/2010/main" val="73458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3EFE-03A6-4D1D-932F-E5B7C5E6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Expressions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4954-6162-4C6D-AF0B-CBCF888F9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Expressions use the ${}syntax</a:t>
            </a:r>
          </a:p>
          <a:p>
            <a:r>
              <a:rPr lang="en-IE" dirty="0"/>
              <a:t>Expressions get evaluated inside JSTL tag attributes</a:t>
            </a:r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c:out</a:t>
            </a:r>
            <a:r>
              <a:rPr lang="en-IE" dirty="0"/>
              <a:t> value=″${expression}″/&gt;</a:t>
            </a:r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c:out</a:t>
            </a:r>
            <a:r>
              <a:rPr lang="en-IE" dirty="0"/>
              <a:t> value=″${1+1}″/&gt;</a:t>
            </a:r>
          </a:p>
          <a:p>
            <a:endParaRPr lang="en-IE" dirty="0"/>
          </a:p>
          <a:p>
            <a:r>
              <a:rPr lang="en-IE" dirty="0"/>
              <a:t>If the expression fails to evaluate, the default value is printed out</a:t>
            </a:r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c:out</a:t>
            </a:r>
            <a:r>
              <a:rPr lang="en-IE" dirty="0"/>
              <a:t> value=″${username}″ default=″unknown″&gt;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2518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7AA0-09BF-423C-8C5F-6774E5BF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Expressions –Special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6973-5860-4387-B500-2FB2A3B4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All special characters (to XML) in an expression value are converted to entity references.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	&amp;, &lt;, &gt;, ′, ″ </a:t>
            </a:r>
          </a:p>
          <a:p>
            <a:pPr marL="0" indent="0">
              <a:buNone/>
            </a:pPr>
            <a:r>
              <a:rPr lang="en-IE" dirty="0"/>
              <a:t>	become</a:t>
            </a:r>
          </a:p>
          <a:p>
            <a:pPr marL="0" indent="0">
              <a:buNone/>
            </a:pPr>
            <a:r>
              <a:rPr lang="en-IE" dirty="0"/>
              <a:t>	&amp;amp;  &amp;</a:t>
            </a:r>
            <a:r>
              <a:rPr lang="en-IE" dirty="0" err="1"/>
              <a:t>lt</a:t>
            </a:r>
            <a:r>
              <a:rPr lang="en-IE" dirty="0"/>
              <a:t>;   &amp;</a:t>
            </a:r>
            <a:r>
              <a:rPr lang="en-IE" dirty="0" err="1"/>
              <a:t>gt</a:t>
            </a:r>
            <a:r>
              <a:rPr lang="en-IE" dirty="0"/>
              <a:t>;   &amp;apos;  &amp;</a:t>
            </a:r>
            <a:r>
              <a:rPr lang="en-IE" dirty="0" err="1"/>
              <a:t>quot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So you can have these in expression values without breaking your JSP</a:t>
            </a:r>
          </a:p>
        </p:txBody>
      </p:sp>
    </p:spTree>
    <p:extLst>
      <p:ext uri="{BB962C8B-B14F-4D97-AF65-F5344CB8AC3E}">
        <p14:creationId xmlns:p14="http://schemas.microsoft.com/office/powerpoint/2010/main" val="165876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A0C2-3352-4757-8890-E68DFE3B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Expressions –Special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B5FB-5F70-4F43-B2FB-8005ABC78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means that you can put &lt;</a:t>
            </a:r>
            <a:r>
              <a:rPr lang="en-IE" dirty="0" err="1"/>
              <a:t>c:out</a:t>
            </a:r>
            <a:r>
              <a:rPr lang="en-IE" dirty="0"/>
              <a:t> inside a HTML attribute value.</a:t>
            </a:r>
          </a:p>
          <a:p>
            <a:r>
              <a:rPr lang="en-IE" dirty="0"/>
              <a:t>For example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	&lt;input type=</a:t>
            </a:r>
            <a:r>
              <a:rPr lang="en-IE" i="1" dirty="0"/>
              <a:t>"text" name="username" </a:t>
            </a:r>
          </a:p>
          <a:p>
            <a:pPr marL="0" indent="0">
              <a:buNone/>
            </a:pPr>
            <a:r>
              <a:rPr lang="en-IE" dirty="0"/>
              <a:t>	value=&lt;</a:t>
            </a:r>
            <a:r>
              <a:rPr lang="en-IE" dirty="0" err="1"/>
              <a:t>c:out</a:t>
            </a:r>
            <a:r>
              <a:rPr lang="en-IE" dirty="0"/>
              <a:t> value=</a:t>
            </a:r>
            <a:r>
              <a:rPr lang="en-IE" i="1" dirty="0"/>
              <a:t>"&amp;{</a:t>
            </a:r>
            <a:r>
              <a:rPr lang="en-IE" i="1" dirty="0" err="1"/>
              <a:t>param.username</a:t>
            </a:r>
            <a:r>
              <a:rPr lang="en-IE" i="1" dirty="0"/>
              <a:t>}" /&gt; </a:t>
            </a:r>
          </a:p>
          <a:p>
            <a:pPr marL="0" indent="0">
              <a:buNone/>
            </a:pPr>
            <a:r>
              <a:rPr lang="en-IE" i="1" dirty="0"/>
              <a:t>				</a:t>
            </a:r>
            <a:r>
              <a:rPr lang="en-IE" i="1" u="sng" dirty="0"/>
              <a:t>or</a:t>
            </a:r>
            <a:endParaRPr lang="en-IE" u="sng" dirty="0"/>
          </a:p>
          <a:p>
            <a:pPr marL="0" indent="0">
              <a:buNone/>
            </a:pPr>
            <a:r>
              <a:rPr lang="en-IE" dirty="0"/>
              <a:t>	&lt;input type=</a:t>
            </a:r>
            <a:r>
              <a:rPr lang="en-IE" i="1" dirty="0"/>
              <a:t>"text" name="username" </a:t>
            </a:r>
          </a:p>
          <a:p>
            <a:pPr marL="0" indent="0">
              <a:buNone/>
            </a:pPr>
            <a:r>
              <a:rPr lang="en-IE" dirty="0"/>
              <a:t>	value=</a:t>
            </a:r>
            <a:r>
              <a:rPr lang="en-IE" i="1" dirty="0"/>
              <a:t>"&lt;</a:t>
            </a:r>
            <a:r>
              <a:rPr lang="en-IE" i="1" dirty="0" err="1"/>
              <a:t>c:out</a:t>
            </a:r>
            <a:r>
              <a:rPr lang="en-IE" i="1" dirty="0"/>
              <a:t> value='&amp;{</a:t>
            </a:r>
            <a:r>
              <a:rPr lang="en-IE" i="1" dirty="0" err="1"/>
              <a:t>param.username</a:t>
            </a:r>
            <a:r>
              <a:rPr lang="en-IE" i="1" dirty="0"/>
              <a:t>}'/&gt;" /&gt;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02311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BE4F-AB75-4D56-9CF1-90A5C60F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Variable Scopes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E1B0A-7DAD-48D3-9892-5763D64F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are 4 different variable scopes in JSP </a:t>
            </a:r>
          </a:p>
          <a:p>
            <a:pPr marL="0" indent="0">
              <a:buNone/>
            </a:pPr>
            <a:r>
              <a:rPr lang="en-IE" dirty="0"/>
              <a:t>	1.page -stored in </a:t>
            </a:r>
            <a:r>
              <a:rPr lang="en-IE" dirty="0" err="1"/>
              <a:t>PageContextobject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2.request –stored in </a:t>
            </a:r>
            <a:r>
              <a:rPr lang="en-IE" dirty="0" err="1"/>
              <a:t>HttpRequestobject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3.session –stored in the </a:t>
            </a:r>
            <a:r>
              <a:rPr lang="en-IE" dirty="0" err="1"/>
              <a:t>HttpSessionobject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4.application –stored in the </a:t>
            </a:r>
            <a:r>
              <a:rPr lang="en-IE" dirty="0" err="1"/>
              <a:t>ServletContextobject</a:t>
            </a:r>
            <a:endParaRPr lang="en-IE" dirty="0"/>
          </a:p>
          <a:p>
            <a:r>
              <a:rPr lang="en-IE" dirty="0"/>
              <a:t>When a variable occurs in an expression, EL searches for the variable in all scopes, in the order above.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8870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AE5E-8D08-44D0-962A-BABBCD33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JSP Variable Scopes –Page Scope</a:t>
            </a: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2800D-43F4-40BE-B41A-B1051A7D2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have not used Page Scope yet.</a:t>
            </a:r>
          </a:p>
          <a:p>
            <a:r>
              <a:rPr lang="en-IE" dirty="0"/>
              <a:t>Page scope is only available in JSP cannot be accessed by the Servlet</a:t>
            </a:r>
          </a:p>
          <a:p>
            <a:r>
              <a:rPr lang="en-IE" dirty="0"/>
              <a:t>Scopes variables to the same page.</a:t>
            </a:r>
          </a:p>
          <a:p>
            <a:r>
              <a:rPr lang="en-IE" dirty="0"/>
              <a:t>Can be thought of as equivalent to the </a:t>
            </a:r>
            <a:r>
              <a:rPr lang="en-IE" b="1" dirty="0"/>
              <a:t>this </a:t>
            </a:r>
            <a:r>
              <a:rPr lang="en-IE" dirty="0"/>
              <a:t>object. </a:t>
            </a:r>
          </a:p>
          <a:p>
            <a:r>
              <a:rPr lang="en-IE" dirty="0"/>
              <a:t>Can be used to limit the search when evaluating expressions to just the variables in the page. i.e. will not search request, session or application scope.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82328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7495-70E6-47DE-8860-CE6200A8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Variable Scopes –Request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4127-274B-488E-A0C2-FCE73896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 used request scope to store the user bean in the previous applications.</a:t>
            </a:r>
          </a:p>
          <a:p>
            <a:r>
              <a:rPr lang="en-IE" dirty="0"/>
              <a:t>Available in both Servlet code and JSP code.</a:t>
            </a:r>
          </a:p>
          <a:p>
            <a:r>
              <a:rPr lang="en-IE" dirty="0"/>
              <a:t>Object can be accessed within all the pages that serve the current request, including forwarded pages and included pages.</a:t>
            </a:r>
          </a:p>
          <a:p>
            <a:r>
              <a:rPr lang="en-IE" dirty="0"/>
              <a:t>Servlet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request.setAttribute</a:t>
            </a:r>
            <a:r>
              <a:rPr lang="en-IE" dirty="0"/>
              <a:t>(“user”, user)</a:t>
            </a:r>
          </a:p>
          <a:p>
            <a:r>
              <a:rPr lang="en-IE" dirty="0"/>
              <a:t>JSP</a:t>
            </a:r>
          </a:p>
          <a:p>
            <a:pPr marL="0" indent="0">
              <a:buNone/>
            </a:pPr>
            <a:r>
              <a:rPr lang="en-IE" dirty="0"/>
              <a:t>	${user.name}</a:t>
            </a:r>
          </a:p>
        </p:txBody>
      </p:sp>
    </p:spTree>
    <p:extLst>
      <p:ext uri="{BB962C8B-B14F-4D97-AF65-F5344CB8AC3E}">
        <p14:creationId xmlns:p14="http://schemas.microsoft.com/office/powerpoint/2010/main" val="860929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E646-15EE-4624-938C-08A8AF6B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Variable Scopes –Session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097F-5ED0-4C3D-9D99-BA3287FA9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Available in both Servlet code and JSP code.</a:t>
            </a:r>
          </a:p>
          <a:p>
            <a:r>
              <a:rPr lang="en-IE" dirty="0"/>
              <a:t>the JSP object is accessible from pages that belong to the same session from where it was created. </a:t>
            </a:r>
          </a:p>
          <a:p>
            <a:r>
              <a:rPr lang="en-IE" dirty="0"/>
              <a:t>The JSP object that is created using the session scope is bound to the session object. </a:t>
            </a:r>
          </a:p>
          <a:p>
            <a:r>
              <a:rPr lang="en-IE" dirty="0"/>
              <a:t>Implicit object session has the ‘session’ scope.</a:t>
            </a:r>
          </a:p>
          <a:p>
            <a:r>
              <a:rPr lang="en-IE" dirty="0"/>
              <a:t>Often used to support login.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99714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FBAEC-7A00-4136-9973-3D4A60A8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Variable Scopes –Session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3877-6892-4696-9E72-DF2E16990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Servlet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HttpSessionsession</a:t>
            </a:r>
            <a:r>
              <a:rPr lang="en-IE" dirty="0"/>
              <a:t> = </a:t>
            </a:r>
            <a:r>
              <a:rPr lang="en-IE" dirty="0" err="1"/>
              <a:t>request.getSession</a:t>
            </a:r>
            <a:r>
              <a:rPr lang="en-IE" dirty="0"/>
              <a:t>() ;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session.setAttribute</a:t>
            </a:r>
            <a:r>
              <a:rPr lang="en-IE" dirty="0"/>
              <a:t>("user", user) ;</a:t>
            </a:r>
          </a:p>
          <a:p>
            <a:r>
              <a:rPr lang="en-IE" dirty="0"/>
              <a:t>JSP</a:t>
            </a:r>
          </a:p>
          <a:p>
            <a:pPr marL="0" indent="0">
              <a:buNone/>
            </a:pPr>
            <a:r>
              <a:rPr lang="en-IE" dirty="0"/>
              <a:t>	Current user: ${sessionScope.user.name}</a:t>
            </a:r>
          </a:p>
          <a:p>
            <a:r>
              <a:rPr lang="en-IE" dirty="0"/>
              <a:t>${</a:t>
            </a:r>
            <a:r>
              <a:rPr lang="en-IE" dirty="0" err="1"/>
              <a:t>sessionScope.user</a:t>
            </a:r>
            <a:r>
              <a:rPr lang="en-IE" dirty="0"/>
              <a:t>} refers to the currently logged on user</a:t>
            </a:r>
          </a:p>
          <a:p>
            <a:r>
              <a:rPr lang="en-IE" dirty="0"/>
              <a:t>Notice that if you only want to search in this specific scope then you use</a:t>
            </a:r>
          </a:p>
          <a:p>
            <a:pPr marL="0" indent="0">
              <a:buNone/>
            </a:pPr>
            <a:r>
              <a:rPr lang="en-IE" dirty="0"/>
              <a:t>	${sessionScope.user.name}</a:t>
            </a:r>
          </a:p>
        </p:txBody>
      </p:sp>
    </p:spTree>
    <p:extLst>
      <p:ext uri="{BB962C8B-B14F-4D97-AF65-F5344CB8AC3E}">
        <p14:creationId xmlns:p14="http://schemas.microsoft.com/office/powerpoint/2010/main" val="2798527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59E7-EF25-469C-BB58-F359F6E3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Variable Scopes –Application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59FD-A500-4B81-B274-C8CCE9698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JSP object created using the ‘application’ scope can be accessed from any pages across the application. </a:t>
            </a:r>
          </a:p>
          <a:p>
            <a:r>
              <a:rPr lang="en-IE" dirty="0"/>
              <a:t>The JSP object is bound to the application object. Implicit object application has the ‘application’ scope.</a:t>
            </a:r>
          </a:p>
          <a:p>
            <a:r>
              <a:rPr lang="en-IE" dirty="0"/>
              <a:t>Useful for sharing common objects across all pages.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33036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E336-07D2-4902-9A2B-CEC932A5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Variable Scopes –Application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DC4D-EC9D-4384-A996-67DA67CAD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Servlet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ServletContextservletCtxt</a:t>
            </a:r>
            <a:r>
              <a:rPr lang="en-IE" dirty="0"/>
              <a:t>= </a:t>
            </a:r>
            <a:r>
              <a:rPr lang="en-IE" dirty="0" err="1"/>
              <a:t>request.getServletContext</a:t>
            </a:r>
            <a:r>
              <a:rPr lang="en-IE" dirty="0"/>
              <a:t>();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servletCtxt.setAttribute</a:t>
            </a:r>
            <a:r>
              <a:rPr lang="en-IE" dirty="0"/>
              <a:t>("user", user) ;</a:t>
            </a:r>
          </a:p>
          <a:p>
            <a:r>
              <a:rPr lang="en-IE" dirty="0"/>
              <a:t>JSP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Current</a:t>
            </a:r>
            <a:r>
              <a:rPr lang="fr-FR" dirty="0"/>
              <a:t> user: ${applicationScope.user.name}</a:t>
            </a:r>
          </a:p>
          <a:p>
            <a:r>
              <a:rPr lang="en-IE" dirty="0"/>
              <a:t>Notice that if you only want to search in this specific scope then you use</a:t>
            </a:r>
          </a:p>
          <a:p>
            <a:pPr marL="0" indent="0">
              <a:buNone/>
            </a:pPr>
            <a:r>
              <a:rPr lang="en-IE" dirty="0"/>
              <a:t>	${applicationScope.user.name}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84411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B152-3218-494E-AAEB-949C9FA6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82C3-F683-4F5D-8FA8-7BB2C5A42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Strings are simply printed out.</a:t>
            </a:r>
          </a:p>
          <a:p>
            <a:r>
              <a:rPr lang="en-IE" dirty="0"/>
              <a:t>&lt;</a:t>
            </a:r>
            <a:r>
              <a:rPr lang="en-IE" dirty="0" err="1"/>
              <a:t>c:out</a:t>
            </a:r>
            <a:r>
              <a:rPr lang="en-IE" dirty="0"/>
              <a:t> automatically converts numbers and </a:t>
            </a:r>
            <a:r>
              <a:rPr lang="en-IE" dirty="0" err="1"/>
              <a:t>booleansto</a:t>
            </a:r>
            <a:r>
              <a:rPr lang="en-IE" dirty="0"/>
              <a:t> Strings and prints them out.</a:t>
            </a:r>
          </a:p>
          <a:p>
            <a:r>
              <a:rPr lang="en-IE" dirty="0"/>
              <a:t>JSTL supports +, -, *,  / (or div), % (or mod) 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4172575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03EB-D654-43AF-BA53-A4238B9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Data Types –Collections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9C0B5-B296-465F-8AE3-43A77ACC5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Servlet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request.setAttribute</a:t>
            </a:r>
            <a:r>
              <a:rPr lang="en-IE" dirty="0"/>
              <a:t>(“users”, </a:t>
            </a:r>
            <a:r>
              <a:rPr lang="en-IE" dirty="0" err="1"/>
              <a:t>userList</a:t>
            </a:r>
            <a:r>
              <a:rPr lang="en-IE" dirty="0"/>
              <a:t>)</a:t>
            </a:r>
          </a:p>
          <a:p>
            <a:r>
              <a:rPr lang="en-IE" dirty="0"/>
              <a:t>JSP</a:t>
            </a:r>
          </a:p>
          <a:p>
            <a:pPr marL="0" indent="0">
              <a:buNone/>
            </a:pPr>
            <a:r>
              <a:rPr lang="en-IE" dirty="0"/>
              <a:t>	${users[2].name}</a:t>
            </a:r>
          </a:p>
          <a:p>
            <a:r>
              <a:rPr lang="en-IE" dirty="0"/>
              <a:t>A list could be used to store a shopping cart for example.</a:t>
            </a:r>
          </a:p>
          <a:p>
            <a:endParaRPr lang="en-IE" dirty="0"/>
          </a:p>
          <a:p>
            <a:r>
              <a:rPr lang="en-IE" dirty="0"/>
              <a:t>It would be stored in what scope?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93253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92F0-E174-4E3A-880C-E654CC49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Data Types –Collections Maps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400FF-F7DA-4093-AF03-3A82CC9F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Servlet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request.setAttribute</a:t>
            </a:r>
            <a:r>
              <a:rPr lang="en-IE" dirty="0"/>
              <a:t>(“users”, </a:t>
            </a:r>
            <a:r>
              <a:rPr lang="en-IE" dirty="0" err="1"/>
              <a:t>userMap</a:t>
            </a:r>
            <a:r>
              <a:rPr lang="en-IE" dirty="0"/>
              <a:t>)</a:t>
            </a:r>
          </a:p>
          <a:p>
            <a:r>
              <a:rPr lang="en-IE" dirty="0"/>
              <a:t>JSP</a:t>
            </a:r>
          </a:p>
          <a:p>
            <a:pPr marL="0" indent="0">
              <a:buNone/>
            </a:pPr>
            <a:r>
              <a:rPr lang="en-IE" dirty="0"/>
              <a:t>	${users[‘</a:t>
            </a:r>
            <a:r>
              <a:rPr lang="en-IE" dirty="0" err="1"/>
              <a:t>martina</a:t>
            </a:r>
            <a:r>
              <a:rPr lang="en-IE" dirty="0"/>
              <a:t>’].name}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29474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FFE8-93E4-4B0E-8033-FCCDB54A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-&lt;</a:t>
            </a:r>
            <a:r>
              <a:rPr lang="en-IE" dirty="0" err="1"/>
              <a:t>c:out</a:t>
            </a:r>
            <a:r>
              <a:rPr lang="en-IE"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EC373-8489-4D1A-9C1C-A7D5C8B5C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&lt;%@ taglib uri="http://java.sun.com/jsp/jstl/core" prefix="c" %&gt;</a:t>
            </a:r>
          </a:p>
          <a:p>
            <a:r>
              <a:rPr lang="en-IE" dirty="0"/>
              <a:t>Part of the JSTL core hence the c: prefix.</a:t>
            </a:r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c:out</a:t>
            </a:r>
            <a:r>
              <a:rPr lang="en-IE" dirty="0"/>
              <a:t> value="${expression}"/&gt;</a:t>
            </a:r>
          </a:p>
          <a:p>
            <a:r>
              <a:rPr lang="en-IE" dirty="0"/>
              <a:t>Used to print out the value of expressions.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8093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BADD-6490-464C-BD25-CB8AC7F2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JSP Tags –Conditions &lt;</a:t>
            </a:r>
            <a:r>
              <a:rPr lang="fr-FR" dirty="0" err="1"/>
              <a:t>c:if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1C10-9CF2-42FB-B5F1-DB1AECE4B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c:if</a:t>
            </a:r>
            <a:r>
              <a:rPr lang="en-IE" dirty="0"/>
              <a:t> test="${user.name != 'admin' }"&gt;</a:t>
            </a:r>
          </a:p>
          <a:p>
            <a:pPr marL="0" indent="0">
              <a:buNone/>
            </a:pPr>
            <a:r>
              <a:rPr lang="en-IE" dirty="0"/>
              <a:t>	Hello &lt;</a:t>
            </a:r>
            <a:r>
              <a:rPr lang="en-IE" dirty="0" err="1"/>
              <a:t>c:out</a:t>
            </a:r>
            <a:r>
              <a:rPr lang="en-IE" dirty="0"/>
              <a:t> value="${user.name }"/&gt;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c:if</a:t>
            </a:r>
            <a:r>
              <a:rPr lang="en-IE" dirty="0"/>
              <a:t>&gt;</a:t>
            </a:r>
          </a:p>
          <a:p>
            <a:endParaRPr lang="en-IE" dirty="0"/>
          </a:p>
          <a:p>
            <a:r>
              <a:rPr lang="en-IE" dirty="0"/>
              <a:t>The Hello message is displayed if the condition is true.</a:t>
            </a:r>
          </a:p>
          <a:p>
            <a:r>
              <a:rPr lang="en-IE" dirty="0"/>
              <a:t>&lt;</a:t>
            </a:r>
            <a:r>
              <a:rPr lang="en-IE" dirty="0" err="1"/>
              <a:t>c:if</a:t>
            </a:r>
            <a:r>
              <a:rPr lang="en-IE" dirty="0"/>
              <a:t> can be nested.</a:t>
            </a:r>
          </a:p>
          <a:p>
            <a:r>
              <a:rPr lang="en-IE" dirty="0"/>
              <a:t>OR (||) and AND(&amp;&amp;) can be used inside Boolean expressions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36613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A947-0124-4C79-A7A7-5259260C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JSP Tags –Conditions &lt;</a:t>
            </a:r>
            <a:r>
              <a:rPr lang="fr-FR" dirty="0" err="1"/>
              <a:t>c:if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60C6-C136-4639-87A0-5FCA40337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	&lt;font size=“2”</a:t>
            </a:r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c:if</a:t>
            </a:r>
            <a:r>
              <a:rPr lang="en-IE" dirty="0"/>
              <a:t> test=“${</a:t>
            </a:r>
            <a:r>
              <a:rPr lang="en-IE" dirty="0" err="1"/>
              <a:t>user.type</a:t>
            </a:r>
            <a:r>
              <a:rPr lang="en-IE" dirty="0"/>
              <a:t> ==‘regular’}”&gt;</a:t>
            </a:r>
          </a:p>
          <a:p>
            <a:pPr marL="0" indent="0">
              <a:buNone/>
            </a:pPr>
            <a:r>
              <a:rPr lang="en-IE" dirty="0"/>
              <a:t>		</a:t>
            </a:r>
            <a:r>
              <a:rPr lang="en-IE" dirty="0" err="1"/>
              <a:t>color</a:t>
            </a:r>
            <a:r>
              <a:rPr lang="en-IE" dirty="0"/>
              <a:t>=“red”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c:if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c:out</a:t>
            </a:r>
            <a:r>
              <a:rPr lang="en-IE" dirty="0"/>
              <a:t> value=“${user.name}”&gt;</a:t>
            </a:r>
          </a:p>
          <a:p>
            <a:pPr marL="0" indent="0">
              <a:buNone/>
            </a:pPr>
            <a:r>
              <a:rPr lang="en-IE" dirty="0"/>
              <a:t>	&lt;/font&gt;</a:t>
            </a:r>
          </a:p>
          <a:p>
            <a:endParaRPr lang="en-IE" dirty="0"/>
          </a:p>
          <a:p>
            <a:r>
              <a:rPr lang="en-IE" dirty="0"/>
              <a:t>&lt;</a:t>
            </a:r>
            <a:r>
              <a:rPr lang="en-IE" dirty="0" err="1"/>
              <a:t>c:if</a:t>
            </a:r>
            <a:r>
              <a:rPr lang="en-IE" dirty="0"/>
              <a:t> can be used to conditionally set an attribute</a:t>
            </a:r>
          </a:p>
        </p:txBody>
      </p:sp>
    </p:spTree>
    <p:extLst>
      <p:ext uri="{BB962C8B-B14F-4D97-AF65-F5344CB8AC3E}">
        <p14:creationId xmlns:p14="http://schemas.microsoft.com/office/powerpoint/2010/main" val="2625313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627F-EDFC-4B4F-9FFE-451415CC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–Conditions &lt;</a:t>
            </a:r>
            <a:r>
              <a:rPr lang="en-IE" dirty="0" err="1"/>
              <a:t>c:ifwith</a:t>
            </a:r>
            <a:r>
              <a:rPr lang="en-IE" dirty="0"/>
              <a:t>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C17A-15F8-4025-A043-EF27415C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c:if</a:t>
            </a:r>
            <a:r>
              <a:rPr lang="en-IE" dirty="0"/>
              <a:t> test=“${error1} var=“error2”&gt;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c:if</a:t>
            </a:r>
            <a:r>
              <a:rPr lang="en-IE" dirty="0"/>
              <a:t>&gt;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Can be used to set the value of a variable to the result of the test.</a:t>
            </a:r>
          </a:p>
          <a:p>
            <a:r>
              <a:rPr lang="en-IE" dirty="0"/>
              <a:t>Here error2 now has the same value as error1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53435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4DD0-5C94-45F8-BFB7-9C612D36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–Conditions &lt;</a:t>
            </a:r>
            <a:r>
              <a:rPr lang="en-IE" dirty="0" err="1"/>
              <a:t>c:choose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F8097-0049-4273-8A92-A1F023E59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c:choose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c:when</a:t>
            </a:r>
            <a:r>
              <a:rPr lang="en-IE" dirty="0"/>
              <a:t> test="condition"&gt;</a:t>
            </a:r>
          </a:p>
          <a:p>
            <a:pPr marL="0" indent="0">
              <a:buNone/>
            </a:pPr>
            <a:r>
              <a:rPr lang="en-IE" dirty="0"/>
              <a:t>			body</a:t>
            </a:r>
          </a:p>
          <a:p>
            <a:pPr marL="0" indent="0">
              <a:buNone/>
            </a:pPr>
            <a:r>
              <a:rPr lang="en-IE" dirty="0"/>
              <a:t>		&lt;/</a:t>
            </a:r>
            <a:r>
              <a:rPr lang="en-IE" dirty="0" err="1"/>
              <a:t>c:when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c:when</a:t>
            </a:r>
            <a:r>
              <a:rPr lang="en-IE" dirty="0"/>
              <a:t> test="condition2"&gt;</a:t>
            </a:r>
          </a:p>
          <a:p>
            <a:pPr marL="0" indent="0">
              <a:buNone/>
            </a:pPr>
            <a:r>
              <a:rPr lang="en-IE" dirty="0"/>
              <a:t>			body2</a:t>
            </a:r>
          </a:p>
          <a:p>
            <a:pPr marL="0" indent="0">
              <a:buNone/>
            </a:pPr>
            <a:r>
              <a:rPr lang="en-IE" dirty="0"/>
              <a:t>		&lt;/</a:t>
            </a:r>
            <a:r>
              <a:rPr lang="en-IE" dirty="0" err="1"/>
              <a:t>c:when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c:otherwise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		body otherwise</a:t>
            </a:r>
          </a:p>
          <a:p>
            <a:pPr marL="0" indent="0">
              <a:buNone/>
            </a:pPr>
            <a:r>
              <a:rPr lang="en-IE" dirty="0"/>
              <a:t>		&lt;/</a:t>
            </a:r>
            <a:r>
              <a:rPr lang="en-IE" dirty="0" err="1"/>
              <a:t>c:otherwise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c:choose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11333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A1B4-9FC3-4185-BACD-E7A3C020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–Conditions &lt;</a:t>
            </a:r>
            <a:r>
              <a:rPr lang="en-IE" dirty="0" err="1"/>
              <a:t>c:choose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7B0C0-A460-40DF-87F5-40C4EB90F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Only one of the &lt;</a:t>
            </a:r>
            <a:r>
              <a:rPr lang="en-IE" dirty="0" err="1"/>
              <a:t>c:when</a:t>
            </a:r>
            <a:r>
              <a:rPr lang="en-IE" dirty="0"/>
              <a:t> tags can succeed.</a:t>
            </a:r>
          </a:p>
          <a:p>
            <a:r>
              <a:rPr lang="en-IE" dirty="0"/>
              <a:t>If none succeed, the &lt;</a:t>
            </a:r>
            <a:r>
              <a:rPr lang="en-IE" dirty="0" err="1"/>
              <a:t>c:otherwise</a:t>
            </a:r>
            <a:r>
              <a:rPr lang="en-IE" dirty="0"/>
              <a:t> succeeds.</a:t>
            </a:r>
          </a:p>
          <a:p>
            <a:r>
              <a:rPr lang="en-IE" dirty="0"/>
              <a:t>A &lt;</a:t>
            </a:r>
            <a:r>
              <a:rPr lang="en-IE" dirty="0" err="1"/>
              <a:t>c:choose</a:t>
            </a:r>
            <a:r>
              <a:rPr lang="en-IE" dirty="0"/>
              <a:t> must contain one &lt;</a:t>
            </a:r>
            <a:r>
              <a:rPr lang="en-IE" dirty="0" err="1"/>
              <a:t>c:when</a:t>
            </a:r>
            <a:r>
              <a:rPr lang="en-IE" dirty="0"/>
              <a:t>.</a:t>
            </a:r>
          </a:p>
          <a:p>
            <a:r>
              <a:rPr lang="en-IE" dirty="0"/>
              <a:t>A &lt;</a:t>
            </a:r>
            <a:r>
              <a:rPr lang="en-IE" dirty="0" err="1"/>
              <a:t>c:choose</a:t>
            </a:r>
            <a:r>
              <a:rPr lang="en-IE" dirty="0"/>
              <a:t> can’t contain more than one &lt;</a:t>
            </a:r>
            <a:r>
              <a:rPr lang="en-IE" dirty="0" err="1"/>
              <a:t>c:otherwise</a:t>
            </a:r>
            <a:r>
              <a:rPr lang="en-IE" dirty="0"/>
              <a:t>.</a:t>
            </a:r>
          </a:p>
          <a:p>
            <a:r>
              <a:rPr lang="en-IE" dirty="0"/>
              <a:t>The &lt;</a:t>
            </a:r>
            <a:r>
              <a:rPr lang="en-IE" dirty="0" err="1"/>
              <a:t>c:otherwise</a:t>
            </a:r>
            <a:r>
              <a:rPr lang="en-IE" dirty="0"/>
              <a:t> must come after the &lt;</a:t>
            </a:r>
            <a:r>
              <a:rPr lang="en-IE" dirty="0" err="1"/>
              <a:t>c:whens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37457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78FE-80F2-48BB-92C5-96BC18BB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–Loops &lt;</a:t>
            </a:r>
            <a:r>
              <a:rPr lang="en-IE" dirty="0" err="1"/>
              <a:t>c:forEach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92D3-9E79-4A4B-B6D2-EB5928EC4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Can loop over a collection.</a:t>
            </a:r>
          </a:p>
          <a:p>
            <a:r>
              <a:rPr lang="en-IE" dirty="0"/>
              <a:t>In the following assume booklist is a collection (list) of books.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c:forEach</a:t>
            </a:r>
            <a:r>
              <a:rPr lang="en-IE" dirty="0"/>
              <a:t> items="${</a:t>
            </a:r>
            <a:r>
              <a:rPr lang="en-IE" dirty="0" err="1"/>
              <a:t>userList</a:t>
            </a:r>
            <a:r>
              <a:rPr lang="en-IE" dirty="0"/>
              <a:t>}" var=</a:t>
            </a:r>
            <a:r>
              <a:rPr lang="en-IE" i="1" dirty="0"/>
              <a:t>"user"&gt;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c:out</a:t>
            </a:r>
            <a:r>
              <a:rPr lang="en-IE" dirty="0"/>
              <a:t> value="${user.name}"/&gt;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c:out</a:t>
            </a:r>
            <a:r>
              <a:rPr lang="en-IE" dirty="0"/>
              <a:t> value="${</a:t>
            </a:r>
            <a:r>
              <a:rPr lang="en-IE" dirty="0" err="1"/>
              <a:t>user.address</a:t>
            </a:r>
            <a:r>
              <a:rPr lang="en-IE" dirty="0"/>
              <a:t>}"/&gt;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br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c:forEach</a:t>
            </a:r>
            <a:r>
              <a:rPr lang="en-IE" dirty="0"/>
              <a:t>&gt;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48158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78FE-80F2-48BB-92C5-96BC18BB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–Loops &lt;</a:t>
            </a:r>
            <a:r>
              <a:rPr lang="en-IE" dirty="0" err="1"/>
              <a:t>c:forEach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09504-9C99-440C-9969-B5D2FAA5B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615" y="1221164"/>
            <a:ext cx="7519705" cy="527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96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78FE-80F2-48BB-92C5-96BC18BB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–Loops &lt;</a:t>
            </a:r>
            <a:r>
              <a:rPr lang="en-IE" dirty="0" err="1"/>
              <a:t>c:forEach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92D3-9E79-4A4B-B6D2-EB5928EC4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c:forEach</a:t>
            </a:r>
            <a:r>
              <a:rPr lang="en-IE" dirty="0"/>
              <a:t> begin=</a:t>
            </a:r>
            <a:r>
              <a:rPr lang="en-IE" i="1" dirty="0"/>
              <a:t>"1" end="5" var="current"&gt;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c:out</a:t>
            </a:r>
            <a:r>
              <a:rPr lang="en-IE" dirty="0"/>
              <a:t> value="${current}"/&gt;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c:forEach</a:t>
            </a:r>
            <a:r>
              <a:rPr lang="en-IE" dirty="0"/>
              <a:t>&gt;</a:t>
            </a:r>
          </a:p>
          <a:p>
            <a:r>
              <a:rPr lang="en-IE" dirty="0"/>
              <a:t>No items attribute</a:t>
            </a:r>
          </a:p>
          <a:p>
            <a:r>
              <a:rPr lang="en-IE" dirty="0"/>
              <a:t>Prints out 1 2 3 4 5</a:t>
            </a:r>
          </a:p>
          <a:p>
            <a:r>
              <a:rPr lang="en-IE" dirty="0"/>
              <a:t>Could also use with step to count in twos, threes etc.</a:t>
            </a:r>
          </a:p>
        </p:txBody>
      </p:sp>
    </p:spTree>
    <p:extLst>
      <p:ext uri="{BB962C8B-B14F-4D97-AF65-F5344CB8AC3E}">
        <p14:creationId xmlns:p14="http://schemas.microsoft.com/office/powerpoint/2010/main" val="2644005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43C3-2843-43C9-B6B7-EEF43F92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–Loops -</a:t>
            </a:r>
            <a:r>
              <a:rPr lang="en-IE" dirty="0" err="1"/>
              <a:t>varStatus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1369-3B42-41A2-A0BF-E057BC974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Variable that exposes loop status</a:t>
            </a:r>
          </a:p>
          <a:p>
            <a:r>
              <a:rPr lang="en-IE" dirty="0"/>
              <a:t>The </a:t>
            </a:r>
            <a:r>
              <a:rPr lang="en-IE" dirty="0" err="1"/>
              <a:t>varStatusvariable</a:t>
            </a:r>
            <a:r>
              <a:rPr lang="en-IE" dirty="0"/>
              <a:t> has properties</a:t>
            </a:r>
          </a:p>
          <a:p>
            <a:pPr marL="0" indent="0">
              <a:buNone/>
            </a:pPr>
            <a:r>
              <a:rPr lang="en-IE" dirty="0"/>
              <a:t>	index -position of the current item in the underlying collection	</a:t>
            </a:r>
          </a:p>
          <a:p>
            <a:pPr marL="0" indent="0">
              <a:buNone/>
            </a:pPr>
            <a:r>
              <a:rPr lang="en-IE" dirty="0"/>
              <a:t>	count -position of current iteration, starting at 1</a:t>
            </a:r>
          </a:p>
          <a:p>
            <a:pPr marL="0" indent="0">
              <a:buNone/>
            </a:pPr>
            <a:r>
              <a:rPr lang="en-IE" dirty="0"/>
              <a:t>	first  -</a:t>
            </a:r>
            <a:r>
              <a:rPr lang="en-IE" dirty="0" err="1"/>
              <a:t>boolean</a:t>
            </a:r>
            <a:r>
              <a:rPr lang="en-IE" dirty="0"/>
              <a:t>, whether this is the first round of iteration</a:t>
            </a:r>
          </a:p>
          <a:p>
            <a:pPr marL="0" indent="0">
              <a:buNone/>
            </a:pPr>
            <a:r>
              <a:rPr lang="en-IE" dirty="0"/>
              <a:t>	last -</a:t>
            </a:r>
            <a:r>
              <a:rPr lang="en-IE" dirty="0" err="1"/>
              <a:t>boolean</a:t>
            </a:r>
            <a:r>
              <a:rPr lang="en-IE" dirty="0"/>
              <a:t>, whether this is the last round of iteration</a:t>
            </a:r>
          </a:p>
        </p:txBody>
      </p:sp>
    </p:spTree>
    <p:extLst>
      <p:ext uri="{BB962C8B-B14F-4D97-AF65-F5344CB8AC3E}">
        <p14:creationId xmlns:p14="http://schemas.microsoft.com/office/powerpoint/2010/main" val="1282825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26F1-D0BA-4DFE-B823-3EF49EBE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–Loops –</a:t>
            </a:r>
            <a:r>
              <a:rPr lang="en-IE" dirty="0" err="1"/>
              <a:t>varStatusExample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DF99-3813-4C0E-ADA1-18649EC0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c:forEach</a:t>
            </a:r>
            <a:r>
              <a:rPr lang="en-IE" dirty="0"/>
              <a:t> items="${items}" </a:t>
            </a:r>
            <a:r>
              <a:rPr lang="en-IE" dirty="0" err="1"/>
              <a:t>varStatus</a:t>
            </a:r>
            <a:r>
              <a:rPr lang="en-IE" dirty="0"/>
              <a:t>=</a:t>
            </a:r>
            <a:r>
              <a:rPr lang="en-IE" i="1" dirty="0"/>
              <a:t>"status"&gt;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c:if</a:t>
            </a:r>
            <a:r>
              <a:rPr lang="en-IE" dirty="0"/>
              <a:t> test="${</a:t>
            </a:r>
            <a:r>
              <a:rPr lang="en-IE" dirty="0" err="1"/>
              <a:t>status.first</a:t>
            </a:r>
            <a:r>
              <a:rPr lang="en-IE" dirty="0"/>
              <a:t> }"&gt; &lt;ul&gt; &lt;/</a:t>
            </a:r>
            <a:r>
              <a:rPr lang="en-IE" dirty="0" err="1"/>
              <a:t>c:if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		&lt;li&gt;...&lt;/li&gt;</a:t>
            </a:r>
          </a:p>
          <a:p>
            <a:pPr marL="0" indent="0">
              <a:buNone/>
            </a:pPr>
            <a:r>
              <a:rPr lang="en-IE" dirty="0"/>
              <a:t>		&lt;</a:t>
            </a:r>
            <a:r>
              <a:rPr lang="en-IE" dirty="0" err="1"/>
              <a:t>c:if</a:t>
            </a:r>
            <a:r>
              <a:rPr lang="en-IE" dirty="0"/>
              <a:t> test="${</a:t>
            </a:r>
            <a:r>
              <a:rPr lang="en-IE" dirty="0" err="1"/>
              <a:t>status.last</a:t>
            </a:r>
            <a:r>
              <a:rPr lang="en-IE" dirty="0"/>
              <a:t>}"/&gt; &lt;/ul&gt; &lt;/</a:t>
            </a:r>
            <a:r>
              <a:rPr lang="en-IE" dirty="0" err="1"/>
              <a:t>c:if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c:forEach</a:t>
            </a:r>
            <a:r>
              <a:rPr lang="en-IE" dirty="0"/>
              <a:t>&gt;</a:t>
            </a:r>
          </a:p>
          <a:p>
            <a:endParaRPr lang="en-IE" dirty="0"/>
          </a:p>
          <a:p>
            <a:r>
              <a:rPr lang="en-IE" dirty="0"/>
              <a:t>Often the first and or last item in a list needs to be treated differently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61583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550B-9BC3-403A-BCBF-17E4F00A7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JSP Tags –Loops &lt;</a:t>
            </a:r>
            <a:r>
              <a:rPr lang="en-IE" dirty="0" err="1"/>
              <a:t>c:forTokens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37D00-413B-4EEE-A47A-17145A287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dirty="0"/>
              <a:t>	&lt;</a:t>
            </a:r>
            <a:r>
              <a:rPr lang="en-IE" dirty="0" err="1"/>
              <a:t>c:forTokens</a:t>
            </a:r>
            <a:r>
              <a:rPr lang="en-IE" dirty="0"/>
              <a:t> var=</a:t>
            </a:r>
            <a:r>
              <a:rPr lang="en-IE" i="1" dirty="0"/>
              <a:t>"token"</a:t>
            </a:r>
          </a:p>
          <a:p>
            <a:pPr marL="0" indent="0">
              <a:buNone/>
            </a:pPr>
            <a:r>
              <a:rPr lang="en-IE" dirty="0"/>
              <a:t>		items=</a:t>
            </a:r>
            <a:r>
              <a:rPr lang="en-IE" i="1" dirty="0"/>
              <a:t>"Java, J2EE, JSTL, JSP, Servlet"</a:t>
            </a:r>
          </a:p>
          <a:p>
            <a:pPr marL="0" indent="0">
              <a:buNone/>
            </a:pPr>
            <a:r>
              <a:rPr lang="en-IE" dirty="0"/>
              <a:t>		</a:t>
            </a:r>
            <a:r>
              <a:rPr lang="en-IE" dirty="0" err="1"/>
              <a:t>delims</a:t>
            </a:r>
            <a:r>
              <a:rPr lang="en-IE" dirty="0"/>
              <a:t>=</a:t>
            </a:r>
            <a:r>
              <a:rPr lang="en-IE" i="1" dirty="0"/>
              <a:t>","&gt;</a:t>
            </a:r>
          </a:p>
          <a:p>
            <a:pPr marL="0" indent="0">
              <a:buNone/>
            </a:pPr>
            <a:r>
              <a:rPr lang="en-IE"/>
              <a:t>		&lt;</a:t>
            </a:r>
            <a:r>
              <a:rPr lang="en-IE" dirty="0" err="1"/>
              <a:t>c:out</a:t>
            </a:r>
            <a:r>
              <a:rPr lang="en-IE" dirty="0"/>
              <a:t> value="${token}"/&gt;&lt;</a:t>
            </a:r>
            <a:r>
              <a:rPr lang="en-IE" dirty="0" err="1"/>
              <a:t>br</a:t>
            </a:r>
            <a:r>
              <a:rPr lang="en-IE" dirty="0"/>
              <a:t>&gt;</a:t>
            </a:r>
          </a:p>
          <a:p>
            <a:pPr marL="0" indent="0">
              <a:buNone/>
            </a:pPr>
            <a:r>
              <a:rPr lang="en-IE" dirty="0"/>
              <a:t>	&lt;/</a:t>
            </a:r>
            <a:r>
              <a:rPr lang="en-IE" dirty="0" err="1"/>
              <a:t>c:forTokens</a:t>
            </a:r>
            <a:r>
              <a:rPr lang="en-IE" dirty="0"/>
              <a:t>&gt;</a:t>
            </a:r>
          </a:p>
          <a:p>
            <a:endParaRPr lang="en-IE" dirty="0"/>
          </a:p>
          <a:p>
            <a:r>
              <a:rPr lang="en-IE" dirty="0"/>
              <a:t>The string in items is parsed and split on the character(s) given in </a:t>
            </a:r>
            <a:r>
              <a:rPr lang="en-IE" dirty="0" err="1"/>
              <a:t>delims</a:t>
            </a:r>
            <a:r>
              <a:rPr lang="en-IE" dirty="0"/>
              <a:t>.</a:t>
            </a:r>
          </a:p>
          <a:p>
            <a:r>
              <a:rPr lang="en-IE" dirty="0"/>
              <a:t>Each token is stored in the variable token in turn.</a:t>
            </a:r>
          </a:p>
          <a:p>
            <a:r>
              <a:rPr lang="en-IE" dirty="0"/>
              <a:t>This example will print out the value of each token.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29237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3569</TotalTime>
  <Words>2007</Words>
  <Application>Microsoft Office PowerPoint</Application>
  <PresentationFormat>Widescreen</PresentationFormat>
  <Paragraphs>230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Server-side Web Development</vt:lpstr>
      <vt:lpstr>JSTL –Recap</vt:lpstr>
      <vt:lpstr>JSP-Recap syntax</vt:lpstr>
      <vt:lpstr>JSP -Overview</vt:lpstr>
      <vt:lpstr>JSP –Some basic tags</vt:lpstr>
      <vt:lpstr>JSP –History</vt:lpstr>
      <vt:lpstr>JSP –Parts of JSP not covered</vt:lpstr>
      <vt:lpstr>JSP –How does it fit with MVC</vt:lpstr>
      <vt:lpstr>JSP Expressions </vt:lpstr>
      <vt:lpstr>JSP Expressions –Special Characters</vt:lpstr>
      <vt:lpstr>JSP Expressions –Special Characters</vt:lpstr>
      <vt:lpstr>JSP Variable Scopes</vt:lpstr>
      <vt:lpstr>JSP Variable Scopes –Page Scope</vt:lpstr>
      <vt:lpstr>JSP Variable Scopes –Request Scope</vt:lpstr>
      <vt:lpstr>JSP Variable Scopes –Session Scope</vt:lpstr>
      <vt:lpstr>JSP Variable Scopes –Session Scope</vt:lpstr>
      <vt:lpstr>JSP Variable Scopes –Application Scope</vt:lpstr>
      <vt:lpstr>JSP Variable Scopes –Application Scope</vt:lpstr>
      <vt:lpstr>JSP Data Types</vt:lpstr>
      <vt:lpstr>JSP Data Types –Collections Lists</vt:lpstr>
      <vt:lpstr>JSP Data Types –Collections Maps</vt:lpstr>
      <vt:lpstr>JSP Tags -&lt;c:out&gt;</vt:lpstr>
      <vt:lpstr>JSP Tags –Conditions &lt;c:if</vt:lpstr>
      <vt:lpstr>JSP Tags –Conditions &lt;c:if</vt:lpstr>
      <vt:lpstr>JSP Tags –Conditions &lt;c:ifwith var</vt:lpstr>
      <vt:lpstr>JSP Tags –Conditions &lt;c:choose</vt:lpstr>
      <vt:lpstr>JSP Tags –Conditions &lt;c:choose</vt:lpstr>
      <vt:lpstr>JSP Tags –Loops &lt;c:forEach</vt:lpstr>
      <vt:lpstr>JSP Tags –Loops &lt;c:forEach</vt:lpstr>
      <vt:lpstr>JSP Tags –Loops &lt;c:forEach</vt:lpstr>
      <vt:lpstr>JSP Tags –Loops -varStatus</vt:lpstr>
      <vt:lpstr>JSP Tags –Loops –varStatusExample</vt:lpstr>
      <vt:lpstr>JSP Tags –Loops &lt;c:forTokens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</dc:title>
  <dc:creator>CURRAN, MARTINA</dc:creator>
  <cp:lastModifiedBy>techstaff</cp:lastModifiedBy>
  <cp:revision>39</cp:revision>
  <dcterms:created xsi:type="dcterms:W3CDTF">2019-08-12T15:58:15Z</dcterms:created>
  <dcterms:modified xsi:type="dcterms:W3CDTF">2020-10-13T10:17:56Z</dcterms:modified>
</cp:coreProperties>
</file>