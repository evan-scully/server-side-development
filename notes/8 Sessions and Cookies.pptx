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4" autoAdjust="0"/>
    <p:restoredTop sz="94660"/>
  </p:normalViewPr>
  <p:slideViewPr>
    <p:cSldViewPr snapToGrid="0">
      <p:cViewPr varScale="1">
        <p:scale>
          <a:sx n="38" d="100"/>
          <a:sy n="38" d="100"/>
        </p:scale>
        <p:origin x="7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10/11/2020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Server-side 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Sessions and Cookies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ECAF-9FCB-4973-B801-F84F5C2C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8736-FE2C-4CAC-B6CF-88D4C78FD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Imagine you have a form which gets the user name and other information</a:t>
            </a:r>
          </a:p>
          <a:p>
            <a:r>
              <a:rPr lang="en-IE" dirty="0"/>
              <a:t>The next page asks for other information – say credit card details.</a:t>
            </a:r>
          </a:p>
          <a:p>
            <a:endParaRPr lang="en-IE" dirty="0"/>
          </a:p>
          <a:p>
            <a:r>
              <a:rPr lang="en-IE" dirty="0"/>
              <a:t>How do you ensure that all of that data is available on the controller called by the second page? (without making the user re-enter their name etc?)</a:t>
            </a:r>
          </a:p>
          <a:p>
            <a:endParaRPr lang="en-IE" dirty="0"/>
          </a:p>
          <a:p>
            <a:r>
              <a:rPr lang="en-IE" dirty="0"/>
              <a:t>Assumption: we can’t change the 2 forms!</a:t>
            </a:r>
          </a:p>
        </p:txBody>
      </p:sp>
    </p:spTree>
    <p:extLst>
      <p:ext uri="{BB962C8B-B14F-4D97-AF65-F5344CB8AC3E}">
        <p14:creationId xmlns:p14="http://schemas.microsoft.com/office/powerpoint/2010/main" val="150988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A4884-5467-4DE6-8654-C0B93BA5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Data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8D195-5E52-4147-923C-CEADB74C0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Suppose a user enters data over 2 forms.</a:t>
            </a:r>
          </a:p>
          <a:p>
            <a:r>
              <a:rPr lang="en-IE" dirty="0"/>
              <a:t>Also suppose we want to share some data from the first form to the second.</a:t>
            </a:r>
          </a:p>
          <a:p>
            <a:r>
              <a:rPr lang="en-IE" dirty="0"/>
              <a:t>It is possible to return the data from the first form to the second form but hide it.</a:t>
            </a:r>
          </a:p>
          <a:p>
            <a:r>
              <a:rPr lang="en-IE" dirty="0"/>
              <a:t>And when the second form is submitted, the Servlet or JSP accessing the form can access all the data</a:t>
            </a:r>
          </a:p>
        </p:txBody>
      </p:sp>
    </p:spTree>
    <p:extLst>
      <p:ext uri="{BB962C8B-B14F-4D97-AF65-F5344CB8AC3E}">
        <p14:creationId xmlns:p14="http://schemas.microsoft.com/office/powerpoint/2010/main" val="138397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F065-0C8A-4C01-98AE-FE6075FD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Data Fields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02D403-71FE-4D46-AFF1-0B562F188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4290" y="1850041"/>
            <a:ext cx="7703419" cy="50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25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EDC5-1EBB-4548-B5A4-C2B02E09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Data Fields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112EA5-1405-4A5B-A3E6-420AA3889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2707"/>
            <a:ext cx="7975600" cy="5140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57827E-54EB-49C8-B780-FB850295B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106" y="2040810"/>
            <a:ext cx="3777388" cy="277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7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B411-1E76-4485-BC6E-B25717B49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Try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5C2FE-D154-4A70-84B8-5E6AED81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8359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4CF1-2B1C-44D8-8294-394A8D13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Data Fields (Again)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8DDC2-D2FA-41D5-8221-24534F16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Suppose we have a list of products</a:t>
            </a:r>
          </a:p>
          <a:p>
            <a:r>
              <a:rPr lang="en-IE" dirty="0"/>
              <a:t>With an add to cart button below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344CE-24B4-4219-B9DD-4A6113EA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887" y="3429000"/>
            <a:ext cx="7597893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7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0042-73C2-4A89-8F8A-507D4860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Hidden Data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62222-06E5-4B6E-BEF9-35390CF84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In order to add the product to the cart we need to identify the product.</a:t>
            </a:r>
          </a:p>
          <a:p>
            <a:r>
              <a:rPr lang="en-IE" dirty="0"/>
              <a:t>Often this is done using an </a:t>
            </a:r>
            <a:r>
              <a:rPr lang="en-IE" b="1" dirty="0"/>
              <a:t>id</a:t>
            </a:r>
            <a:r>
              <a:rPr lang="en-IE" dirty="0"/>
              <a:t>.</a:t>
            </a:r>
          </a:p>
          <a:p>
            <a:r>
              <a:rPr lang="en-IE" dirty="0"/>
              <a:t>So the </a:t>
            </a:r>
            <a:r>
              <a:rPr lang="en-IE" dirty="0" err="1"/>
              <a:t>AddToCartServlet</a:t>
            </a:r>
            <a:r>
              <a:rPr lang="en-IE" dirty="0"/>
              <a:t> needs the </a:t>
            </a:r>
            <a:r>
              <a:rPr lang="en-IE" b="1" dirty="0"/>
              <a:t>id </a:t>
            </a:r>
            <a:r>
              <a:rPr lang="en-IE" dirty="0"/>
              <a:t>of the product.</a:t>
            </a:r>
          </a:p>
          <a:p>
            <a:r>
              <a:rPr lang="en-IE" dirty="0"/>
              <a:t>Normally this is </a:t>
            </a:r>
            <a:r>
              <a:rPr lang="en-IE" i="1" dirty="0"/>
              <a:t>not shown to the customer </a:t>
            </a:r>
            <a:r>
              <a:rPr lang="en-IE" dirty="0"/>
              <a:t>but would be a </a:t>
            </a:r>
            <a:r>
              <a:rPr lang="en-IE" b="1" dirty="0"/>
              <a:t>hidden field </a:t>
            </a:r>
            <a:r>
              <a:rPr lang="en-IE" dirty="0"/>
              <a:t>in the form.</a:t>
            </a:r>
          </a:p>
          <a:p>
            <a:r>
              <a:rPr lang="en-IE" dirty="0"/>
              <a:t>The id or product code field of things is often hidden in this way.</a:t>
            </a:r>
          </a:p>
        </p:txBody>
      </p:sp>
    </p:spTree>
    <p:extLst>
      <p:ext uri="{BB962C8B-B14F-4D97-AF65-F5344CB8AC3E}">
        <p14:creationId xmlns:p14="http://schemas.microsoft.com/office/powerpoint/2010/main" val="611304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C48D-87C9-4293-8A48-412E7070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Session Scope (</a:t>
            </a:r>
            <a:r>
              <a:rPr lang="en-IE" sz="4000" dirty="0"/>
              <a:t>recall scopes from slides 5</a:t>
            </a:r>
            <a:r>
              <a:rPr lang="en-I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A5C86-4C66-40E6-9712-68D719012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Often used to support login.</a:t>
            </a:r>
          </a:p>
          <a:p>
            <a:r>
              <a:rPr lang="en-IE" dirty="0"/>
              <a:t>In Servlet</a:t>
            </a:r>
          </a:p>
          <a:p>
            <a:pPr marL="457200" lvl="1" indent="0">
              <a:buNone/>
            </a:pPr>
            <a:r>
              <a:rPr lang="en-IE" dirty="0" err="1"/>
              <a:t>HttpSession</a:t>
            </a:r>
            <a:r>
              <a:rPr lang="en-IE" dirty="0"/>
              <a:t> session = </a:t>
            </a:r>
            <a:r>
              <a:rPr lang="en-IE" dirty="0" err="1"/>
              <a:t>request.getSession</a:t>
            </a:r>
            <a:r>
              <a:rPr lang="en-IE" dirty="0"/>
              <a:t>();</a:t>
            </a:r>
          </a:p>
          <a:p>
            <a:pPr marL="457200" lvl="1" indent="0">
              <a:buNone/>
            </a:pPr>
            <a:r>
              <a:rPr lang="en-IE" dirty="0" err="1"/>
              <a:t>session.setAttribute</a:t>
            </a:r>
            <a:r>
              <a:rPr lang="en-IE" dirty="0"/>
              <a:t>(“user”, </a:t>
            </a:r>
            <a:r>
              <a:rPr lang="en-IE" dirty="0" err="1"/>
              <a:t>loggedInUser</a:t>
            </a:r>
            <a:r>
              <a:rPr lang="en-IE" dirty="0"/>
              <a:t>);</a:t>
            </a:r>
          </a:p>
          <a:p>
            <a:r>
              <a:rPr lang="en-IE" dirty="0"/>
              <a:t> In JSP</a:t>
            </a:r>
          </a:p>
          <a:p>
            <a:pPr marL="0" indent="0">
              <a:buNone/>
            </a:pPr>
            <a:r>
              <a:rPr lang="en-IE" dirty="0"/>
              <a:t>	Current user:</a:t>
            </a:r>
          </a:p>
          <a:p>
            <a:pPr marL="0" indent="0">
              <a:buNone/>
            </a:pPr>
            <a:r>
              <a:rPr lang="en-IE" dirty="0"/>
              <a:t>	${sessionScope.user.name}</a:t>
            </a:r>
          </a:p>
          <a:p>
            <a:r>
              <a:rPr lang="en-IE" dirty="0"/>
              <a:t>Sessions can be set to timeout after a specific period.</a:t>
            </a:r>
          </a:p>
        </p:txBody>
      </p:sp>
    </p:spTree>
    <p:extLst>
      <p:ext uri="{BB962C8B-B14F-4D97-AF65-F5344CB8AC3E}">
        <p14:creationId xmlns:p14="http://schemas.microsoft.com/office/powerpoint/2010/main" val="317417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0FE6-94F2-4E23-8C44-876EC619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Try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4B2A-3D75-45CB-BFED-9F521639B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It is easy to re-implement the above hidden fields example using the </a:t>
            </a:r>
            <a:r>
              <a:rPr lang="en-IE" dirty="0" err="1"/>
              <a:t>HttpSession</a:t>
            </a:r>
            <a:r>
              <a:rPr lang="en-IE" dirty="0"/>
              <a:t> object.</a:t>
            </a:r>
          </a:p>
          <a:p>
            <a:r>
              <a:rPr lang="en-IE" dirty="0"/>
              <a:t>Simply add each field value to the session object.</a:t>
            </a:r>
          </a:p>
          <a:p>
            <a:r>
              <a:rPr lang="en-IE" dirty="0"/>
              <a:t>Two ways of doing this:</a:t>
            </a:r>
          </a:p>
          <a:p>
            <a:pPr marL="0" indent="0">
              <a:buNone/>
            </a:pPr>
            <a:r>
              <a:rPr lang="en-IE" dirty="0"/>
              <a:t>	1. Use a JSP </a:t>
            </a:r>
            <a:r>
              <a:rPr lang="en-IE" dirty="0" err="1"/>
              <a:t>scriptlet</a:t>
            </a:r>
            <a:r>
              <a:rPr lang="en-IE" dirty="0"/>
              <a:t>	</a:t>
            </a:r>
          </a:p>
          <a:p>
            <a:pPr lvl="2"/>
            <a:r>
              <a:rPr lang="en-IE" sz="2800" dirty="0"/>
              <a:t>I know I said they were deprecated.!</a:t>
            </a:r>
          </a:p>
          <a:p>
            <a:pPr lvl="2"/>
            <a:r>
              <a:rPr lang="en-IE" sz="2800" dirty="0"/>
              <a:t>Use of scripts should be very controlled !!!</a:t>
            </a:r>
          </a:p>
          <a:p>
            <a:pPr lvl="2"/>
            <a:r>
              <a:rPr lang="en-IE" sz="2800" dirty="0"/>
              <a:t>These are enclosed in </a:t>
            </a:r>
            <a:r>
              <a:rPr lang="en-IE" sz="2800" b="1" dirty="0"/>
              <a:t>&lt;% %&gt;</a:t>
            </a:r>
          </a:p>
          <a:p>
            <a:r>
              <a:rPr lang="en-IE" dirty="0"/>
              <a:t>2. Use JSP core tag </a:t>
            </a:r>
            <a:r>
              <a:rPr lang="en-IE" b="1" dirty="0"/>
              <a:t>c:set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8942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B123-5272-4BB4-91CC-79A2467F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Try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0937-7D70-4719-B6C4-D8AA7631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Using </a:t>
            </a:r>
            <a:r>
              <a:rPr lang="en-IE" dirty="0" err="1"/>
              <a:t>Scriptlets</a:t>
            </a:r>
            <a:r>
              <a:rPr lang="en-IE" dirty="0"/>
              <a:t> </a:t>
            </a:r>
            <a:r>
              <a:rPr lang="en-IE" b="1" dirty="0"/>
              <a:t>&lt;% %&gt;</a:t>
            </a:r>
          </a:p>
          <a:p>
            <a:endParaRPr lang="en-IE" b="1" dirty="0"/>
          </a:p>
          <a:p>
            <a:endParaRPr lang="en-IE" b="1" dirty="0"/>
          </a:p>
          <a:p>
            <a:endParaRPr lang="en-IE" b="1" dirty="0"/>
          </a:p>
          <a:p>
            <a:endParaRPr lang="en-IE" b="1" dirty="0"/>
          </a:p>
          <a:p>
            <a:r>
              <a:rPr lang="en-IE" dirty="0"/>
              <a:t>Using </a:t>
            </a:r>
            <a:r>
              <a:rPr lang="en-IE" b="1" dirty="0"/>
              <a:t>c:set </a:t>
            </a:r>
            <a:r>
              <a:rPr lang="en-IE" dirty="0"/>
              <a:t>preferred!!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04C5C-4F9C-4A48-8AC2-0CBBC40C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299" y="2286000"/>
            <a:ext cx="8754675" cy="1625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C0094-822E-4DB2-A716-BC43F8459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5264149"/>
            <a:ext cx="76581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47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5063-7395-42C5-882F-6470E845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Cookies in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7A13-2772-4D12-BE9A-2A2C910B2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Cookies are text data sent by Web Servers as part of the </a:t>
            </a:r>
            <a:r>
              <a:rPr lang="en-IE" b="1" dirty="0"/>
              <a:t>response </a:t>
            </a:r>
            <a:r>
              <a:rPr lang="en-IE" dirty="0"/>
              <a:t>to a client.</a:t>
            </a:r>
          </a:p>
          <a:p>
            <a:r>
              <a:rPr lang="en-IE" dirty="0"/>
              <a:t>Depending on the maximum age (</a:t>
            </a:r>
            <a:r>
              <a:rPr lang="en-IE" dirty="0" err="1"/>
              <a:t>getMaxAge</a:t>
            </a:r>
            <a:r>
              <a:rPr lang="en-IE" dirty="0"/>
              <a:t>() and </a:t>
            </a:r>
            <a:r>
              <a:rPr lang="en-IE" dirty="0" err="1"/>
              <a:t>setMaxAge</a:t>
            </a:r>
            <a:r>
              <a:rPr lang="en-IE" dirty="0"/>
              <a:t>()) of the Cookie, the browser will store the cookie on the client machine (memory or disk) for a certain period of time.</a:t>
            </a:r>
          </a:p>
          <a:p>
            <a:r>
              <a:rPr lang="en-IE" dirty="0"/>
              <a:t>All subsequent requests sent to a Web Server contain the Cookies that originated from that Web Server.</a:t>
            </a:r>
          </a:p>
          <a:p>
            <a:r>
              <a:rPr lang="en-IE" dirty="0"/>
              <a:t>A Cookie is simply a name/value pair.</a:t>
            </a:r>
          </a:p>
        </p:txBody>
      </p:sp>
    </p:spTree>
    <p:extLst>
      <p:ext uri="{BB962C8B-B14F-4D97-AF65-F5344CB8AC3E}">
        <p14:creationId xmlns:p14="http://schemas.microsoft.com/office/powerpoint/2010/main" val="25579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11A2-5A35-4BB2-860F-A150341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Cookies in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365A5-A3A2-47D8-BF9F-AE978DDB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Cookies are sent as part of the header information of both requests and responses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DEAF9-0846-4C74-A690-6B083E97B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9" y="2979737"/>
            <a:ext cx="11747282" cy="296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04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539D-7E89-4A26-B276-A997001F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Setting a Cookie in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AC3B-962D-4DEA-939E-CB888C87B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set the value of a cookie</a:t>
            </a:r>
          </a:p>
          <a:p>
            <a:r>
              <a:rPr lang="en-IE" dirty="0"/>
              <a:t>Use the </a:t>
            </a:r>
            <a:r>
              <a:rPr lang="en-IE" dirty="0" err="1"/>
              <a:t>setMaxAge</a:t>
            </a:r>
            <a:r>
              <a:rPr lang="en-IE" dirty="0"/>
              <a:t>() method supplying an integer that specifies the maximum age of the cookie in seconds.</a:t>
            </a:r>
          </a:p>
          <a:p>
            <a:r>
              <a:rPr lang="en-IE" dirty="0"/>
              <a:t>If the age is set to 0 then the cookie should be discarded immediately.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38A8A-2843-4791-8D7F-39596967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4289424"/>
            <a:ext cx="9280071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65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2C6A-E7DC-4204-8013-760550C7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values from a Cookie in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850F-75D3-4A88-9B1F-159367BB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 obtain the value of any Cookies use</a:t>
            </a:r>
          </a:p>
          <a:p>
            <a:pPr lvl="1"/>
            <a:r>
              <a:rPr lang="en-IE" dirty="0"/>
              <a:t>Cookie[] cookies = </a:t>
            </a:r>
            <a:r>
              <a:rPr lang="en-IE" dirty="0" err="1"/>
              <a:t>request.getCookies</a:t>
            </a:r>
            <a:r>
              <a:rPr lang="en-IE" dirty="0"/>
              <a:t>();</a:t>
            </a:r>
          </a:p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It is then necessary to iterate through the array to check for the Cookie you want.</a:t>
            </a:r>
          </a:p>
          <a:p>
            <a:r>
              <a:rPr lang="en-IE" dirty="0"/>
              <a:t>Use the methods </a:t>
            </a:r>
            <a:r>
              <a:rPr lang="en-IE" b="1" dirty="0" err="1"/>
              <a:t>getName</a:t>
            </a:r>
            <a:r>
              <a:rPr lang="en-IE" b="1" dirty="0"/>
              <a:t>() </a:t>
            </a:r>
            <a:r>
              <a:rPr lang="en-IE" dirty="0"/>
              <a:t>and </a:t>
            </a:r>
            <a:r>
              <a:rPr lang="en-IE" b="1" dirty="0" err="1"/>
              <a:t>getValue</a:t>
            </a:r>
            <a:r>
              <a:rPr lang="en-IE" b="1" dirty="0"/>
              <a:t>()</a:t>
            </a:r>
            <a:r>
              <a:rPr lang="en-IE" dirty="0"/>
              <a:t>.</a:t>
            </a:r>
          </a:p>
          <a:p>
            <a:r>
              <a:rPr lang="en-IE" dirty="0"/>
              <a:t>Other cookies seem to be set when using </a:t>
            </a:r>
            <a:r>
              <a:rPr lang="en-IE" dirty="0" err="1"/>
              <a:t>Netbeans</a:t>
            </a:r>
            <a:r>
              <a:rPr lang="en-I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53868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8582-D4D9-44DE-B9C3-9C13992B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Reading values from a Cookie in Servlets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DFDD2B-6DD4-4526-956A-F099271DC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800" y="2603281"/>
            <a:ext cx="7157645" cy="283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50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DB99-9C13-4B7B-B0B2-722BED93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Try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33448-2408-436B-BE35-94B4CFD2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Write two Servlets.</a:t>
            </a:r>
          </a:p>
          <a:p>
            <a:r>
              <a:rPr lang="en-IE" dirty="0"/>
              <a:t>The first should check to see if the customer is known (Cookie).</a:t>
            </a:r>
          </a:p>
          <a:p>
            <a:r>
              <a:rPr lang="en-IE" dirty="0"/>
              <a:t>If the Customer is known, the first Servlet should welcome the user back.</a:t>
            </a:r>
          </a:p>
          <a:p>
            <a:r>
              <a:rPr lang="en-IE" dirty="0"/>
              <a:t>If the Customer is not known it should generate a form that asks the user for some information.</a:t>
            </a:r>
          </a:p>
          <a:p>
            <a:r>
              <a:rPr lang="en-IE" dirty="0"/>
              <a:t>The second Servlet should put that </a:t>
            </a:r>
            <a:r>
              <a:rPr lang="en-IE"/>
              <a:t>information in a </a:t>
            </a:r>
            <a:r>
              <a:rPr lang="en-IE" dirty="0"/>
              <a:t>Cookie.</a:t>
            </a:r>
          </a:p>
        </p:txBody>
      </p:sp>
    </p:spTree>
    <p:extLst>
      <p:ext uri="{BB962C8B-B14F-4D97-AF65-F5344CB8AC3E}">
        <p14:creationId xmlns:p14="http://schemas.microsoft.com/office/powerpoint/2010/main" val="96529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662</Words>
  <Application>Microsoft Office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Server-side Web Development</vt:lpstr>
      <vt:lpstr>Question</vt:lpstr>
      <vt:lpstr>Hidden Data Fields</vt:lpstr>
      <vt:lpstr>Hidden Data Fields</vt:lpstr>
      <vt:lpstr>Hidden Data Fields</vt:lpstr>
      <vt:lpstr>Try it!</vt:lpstr>
      <vt:lpstr>Hidden Data Fields (Again)</vt:lpstr>
      <vt:lpstr>Hidden Data Fields</vt:lpstr>
      <vt:lpstr>HTTP Session Scope (recall scopes from slides 5)</vt:lpstr>
      <vt:lpstr>Try it!</vt:lpstr>
      <vt:lpstr>Try it!</vt:lpstr>
      <vt:lpstr>Cookies in Servlets</vt:lpstr>
      <vt:lpstr>Cookies in Servlets</vt:lpstr>
      <vt:lpstr>Setting a Cookie in Servlets</vt:lpstr>
      <vt:lpstr>Reading values from a Cookie in Servlets</vt:lpstr>
      <vt:lpstr>Reading values from a Cookie in Servlets</vt:lpstr>
      <vt:lpstr>Try 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</dc:title>
  <dc:creator>CURRAN, MARTINA</dc:creator>
  <cp:lastModifiedBy>techstaff</cp:lastModifiedBy>
  <cp:revision>19</cp:revision>
  <dcterms:created xsi:type="dcterms:W3CDTF">2019-08-12T15:58:15Z</dcterms:created>
  <dcterms:modified xsi:type="dcterms:W3CDTF">2020-11-10T11:26:10Z</dcterms:modified>
</cp:coreProperties>
</file>