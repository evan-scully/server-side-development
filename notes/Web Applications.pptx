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5" r:id="rId4"/>
    <p:sldId id="257" r:id="rId5"/>
    <p:sldId id="262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90" r:id="rId31"/>
    <p:sldId id="291" r:id="rId32"/>
    <p:sldId id="292" r:id="rId33"/>
    <p:sldId id="293" r:id="rId34"/>
    <p:sldId id="294" r:id="rId35"/>
    <p:sldId id="295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4" autoAdjust="0"/>
    <p:restoredTop sz="94660"/>
  </p:normalViewPr>
  <p:slideViewPr>
    <p:cSldViewPr snapToGrid="0">
      <p:cViewPr varScale="1">
        <p:scale>
          <a:sx n="38" d="100"/>
          <a:sy n="38" d="100"/>
        </p:scale>
        <p:origin x="7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11678-2D86-4DAE-847A-55B8AAA65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1B2CF-975D-4351-9694-6F1AFAA44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B876B-2BBD-4769-833E-D503374BB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21/09/2020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02A31-A755-4B89-9E8A-DC2074EA4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F5046-4908-4092-97DA-BB710C05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65717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99EF-45DF-43CB-B92F-7BBD6ACAA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6D277-84F6-428A-B396-8687052EC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3A558-0664-448D-BA15-FCA859ADC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21/09/2020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B2868-56D3-4FDB-8897-19830FC2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4A271-070A-4321-9A04-B951AC63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739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AB5C-EBFD-4E56-8963-D648BF2B1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890B5-7649-4B23-828C-C28C84C7F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75F4E-409A-4954-899A-0C545322D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21/09/2020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4AC6F-9ECE-48D8-8ABD-54D5DB0B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46D47-CB26-4D81-897F-F840B153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6789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116C9-C584-4BDD-88DF-DDC3FCE43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0686E-1BD6-4FC9-BE5C-94C3CC27C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83F51-9A68-42D5-B79F-2CEB32173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BC281-9E06-4C6B-A2D5-2267188F6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21/09/2020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E3BFB-7E00-48D5-849C-CDB782A7A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7D561-473C-4AC5-928F-29F225D0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43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7055D-0FF3-4678-B9AE-A46C620B4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F3C1A-4C0E-4EB8-96B8-8A8F0F77A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04207-17C4-459A-A3C8-007ED7040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D13C8-58F1-44FB-BDFB-65977225F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8CD19A-A846-4C99-8BD3-8911AD2676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5A3DFA-FCA8-403E-8164-3A9F52608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21/09/2020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CCD9E3-A548-464D-8063-249E902FC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A65957-7643-4F72-A1FC-14E62C72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88466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F6596-C70F-4B23-8192-74234FE2F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A9698-A2D2-4EA9-BEE3-21DEEB677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21/09/2020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7ACFD-DA4F-408B-A623-5B451F27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B1EEC-3EB0-4701-AFE6-AD468C95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94446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A6EEC7-E653-4288-B1A7-C2CAFFA8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21/09/2020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86EFED-B925-4903-9BA0-526E6D60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65E58-B2CE-41DD-861C-2220E228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90836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7061E-BE60-4B35-9006-7C13398F5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17D56-040E-47CA-8F46-0A16F7E11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EEDAA-7971-4D0F-88CF-DDAC09979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E7E2D-9D6C-4977-87F1-0C7B116FD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21/09/2020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64070-92C5-41D2-92E1-A90384A1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A36A9-8D9C-497E-8E13-272C4BF5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71376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2A43-46DA-492B-9F3B-CCCC16B3D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9E27B6-2EDE-45AA-9C71-EE637E536E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A5422-60E5-4EB9-BA9B-749EAB1ED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37829-CFAD-444D-9F28-09A1BC8A9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21/09/2020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95C8D-44E8-45E0-92B0-CD0D7D53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551FF-4C4C-433A-B1F1-B286ADB08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1774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6684D-CEF2-4F8F-AB87-8998E84F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EDC20-95A1-40ED-A4C8-801477970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4F649-EEF3-4D9F-9ADA-DAB0EEEC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21/09/2020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73AD7-B3D6-47F2-86A2-40B9BF3B5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0D4E4-3868-40AF-A75B-C12657A8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8809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5D7399-0E97-4804-9311-75631F187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E05F4-E523-4848-AAB8-4341BEAEE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F6C01-7D91-432F-B037-5422A2F56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21/09/2020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A7E6F-89F0-42FA-AACC-D211E5F3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2E5C9-5637-46EA-9E55-1C3C132B9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7124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B2E40E-CD1F-4D6A-A5C0-6AB99C161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A7F4A-CFF7-4801-B83C-7281DFA09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708A6-8026-43C5-A6DF-205DA7431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5572E-433B-4C3C-9216-427A579344CD}" type="datetimeFigureOut">
              <a:rPr lang="en-IE" smtClean="0"/>
              <a:t>21/09/2020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F329E-D46A-4C6D-8C77-B38E86412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745A8-7D25-4353-B61B-79E8C939F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1751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" TargetMode="External"/><Relationship Id="rId2" Type="http://schemas.openxmlformats.org/officeDocument/2006/relationships/hyperlink" Target="http://en.wikipedia.org/wiki/Donald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7D82C-2767-4733-92AF-759DBF7BA3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Server-side Web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E9A08-CC23-4E26-9F82-CC9B76F72C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Web Applications</a:t>
            </a:r>
          </a:p>
        </p:txBody>
      </p:sp>
    </p:spTree>
    <p:extLst>
      <p:ext uri="{BB962C8B-B14F-4D97-AF65-F5344CB8AC3E}">
        <p14:creationId xmlns:p14="http://schemas.microsoft.com/office/powerpoint/2010/main" val="2563265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FC46-F28D-4240-B111-F2AE72FF4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HTTP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47B85-55E9-4B03-9A07-87FE93B6E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HTTP Clients</a:t>
            </a:r>
          </a:p>
          <a:p>
            <a:pPr lvl="1"/>
            <a:r>
              <a:rPr lang="en-IE" dirty="0"/>
              <a:t>Web Browsers</a:t>
            </a:r>
          </a:p>
          <a:p>
            <a:pPr lvl="1"/>
            <a:r>
              <a:rPr lang="en-IE" dirty="0"/>
              <a:t>Other Programs/services (Web Services)</a:t>
            </a:r>
          </a:p>
          <a:p>
            <a:pPr lvl="1"/>
            <a:r>
              <a:rPr lang="en-IE" dirty="0"/>
              <a:t>CLI (command line interface)</a:t>
            </a:r>
          </a:p>
          <a:p>
            <a:pPr lvl="1"/>
            <a:r>
              <a:rPr lang="en-IE" dirty="0"/>
              <a:t>…</a:t>
            </a:r>
          </a:p>
          <a:p>
            <a:r>
              <a:rPr lang="en-IE" dirty="0"/>
              <a:t>HTTP Servers</a:t>
            </a:r>
          </a:p>
          <a:p>
            <a:pPr lvl="1"/>
            <a:r>
              <a:rPr lang="en-IE" dirty="0"/>
              <a:t>Apache Tomcat</a:t>
            </a:r>
          </a:p>
          <a:p>
            <a:pPr lvl="1"/>
            <a:r>
              <a:rPr lang="en-IE" dirty="0"/>
              <a:t>Microsoft IIS</a:t>
            </a:r>
          </a:p>
          <a:p>
            <a:pPr lvl="1"/>
            <a:r>
              <a:rPr lang="en-IE" dirty="0"/>
              <a:t>Jetty (Java Web Server)</a:t>
            </a:r>
          </a:p>
          <a:p>
            <a:pPr lvl="1"/>
            <a:r>
              <a:rPr lang="en-I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178206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BDF9F-744C-4990-9A8C-2530B5763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HTTP Requests and Responses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01CAC-89D0-4324-9604-934E541F9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Clients send a HTTP request to the server</a:t>
            </a:r>
          </a:p>
          <a:p>
            <a:r>
              <a:rPr lang="en-IE" dirty="0"/>
              <a:t>The Server sends a response back to the client</a:t>
            </a:r>
          </a:p>
          <a:p>
            <a:r>
              <a:rPr lang="en-IE" dirty="0"/>
              <a:t>A stateless protocol – the server does not maintain any state about the client</a:t>
            </a:r>
          </a:p>
          <a:p>
            <a:r>
              <a:rPr lang="en-IE" dirty="0"/>
              <a:t>HTTP1.1 provides support for persistent connections</a:t>
            </a:r>
          </a:p>
          <a:p>
            <a:r>
              <a:rPr lang="en-IE" dirty="0"/>
              <a:t>Socket connections are kept open for subsequent request from the client (for image files for example)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90044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D07DF-B19B-46C2-A420-8215FA30B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URIs and URLs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82D5F-B847-4088-BCF0-A88BD41AA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Requests are for resources identified by URL or URI</a:t>
            </a:r>
          </a:p>
          <a:p>
            <a:r>
              <a:rPr lang="en-IE" dirty="0"/>
              <a:t>URI – Uniform Resource Identifier</a:t>
            </a:r>
          </a:p>
          <a:p>
            <a:pPr lvl="1"/>
            <a:r>
              <a:rPr lang="en-IE" dirty="0"/>
              <a:t>Scheme:[//authority]path[?query][#fragment]</a:t>
            </a:r>
          </a:p>
          <a:p>
            <a:endParaRPr lang="en-IE" dirty="0"/>
          </a:p>
          <a:p>
            <a:r>
              <a:rPr lang="en-IE" dirty="0"/>
              <a:t>URN – Uniform Resource Name</a:t>
            </a:r>
          </a:p>
          <a:p>
            <a:pPr lvl="1"/>
            <a:r>
              <a:rPr lang="en-IE" dirty="0"/>
              <a:t>urn:isbn:0451450523</a:t>
            </a:r>
          </a:p>
          <a:p>
            <a:pPr lvl="1"/>
            <a:endParaRPr lang="en-IE" dirty="0"/>
          </a:p>
          <a:p>
            <a:r>
              <a:rPr lang="en-IE" dirty="0"/>
              <a:t>URL – Uniform Resource Locator</a:t>
            </a:r>
          </a:p>
          <a:p>
            <a:pPr lvl="1"/>
            <a:r>
              <a:rPr lang="en-IE" dirty="0"/>
              <a:t>Popular schemes: http, https, ftp, </a:t>
            </a:r>
            <a:r>
              <a:rPr lang="en-IE" dirty="0" err="1"/>
              <a:t>mailto</a:t>
            </a:r>
            <a:r>
              <a:rPr lang="en-IE" dirty="0"/>
              <a:t>, file, data, </a:t>
            </a:r>
            <a:r>
              <a:rPr lang="en-IE" dirty="0" err="1"/>
              <a:t>irc</a:t>
            </a:r>
            <a:endParaRPr lang="en-IE" dirty="0"/>
          </a:p>
          <a:p>
            <a:pPr lvl="1"/>
            <a:r>
              <a:rPr lang="en-IE" dirty="0"/>
              <a:t>Example: http://en.wikipedia.org/wiki/Donald</a:t>
            </a:r>
          </a:p>
          <a:p>
            <a:endParaRPr lang="en-IE" sz="2600" dirty="0"/>
          </a:p>
        </p:txBody>
      </p:sp>
    </p:spTree>
    <p:extLst>
      <p:ext uri="{BB962C8B-B14F-4D97-AF65-F5344CB8AC3E}">
        <p14:creationId xmlns:p14="http://schemas.microsoft.com/office/powerpoint/2010/main" val="1587244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348A-35FD-43A7-B26F-715E7854E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Requesting a Resource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EBFA20-4903-48DE-AB05-2A335E9AF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To obtain the resource:</a:t>
            </a:r>
          </a:p>
          <a:p>
            <a:pPr lvl="1"/>
            <a:r>
              <a:rPr lang="en-IE" dirty="0">
                <a:hlinkClick r:id="rId2"/>
              </a:rPr>
              <a:t>http://en.wikipedia.org/wiki/Donald</a:t>
            </a:r>
            <a:endParaRPr lang="en-IE" dirty="0"/>
          </a:p>
          <a:p>
            <a:pPr lvl="1"/>
            <a:endParaRPr lang="en-IE" dirty="0"/>
          </a:p>
          <a:p>
            <a:r>
              <a:rPr lang="en-IE" dirty="0"/>
              <a:t>Make a TCP/IP connection on port 80 to </a:t>
            </a:r>
          </a:p>
          <a:p>
            <a:pPr lvl="1"/>
            <a:r>
              <a:rPr lang="en-IE" dirty="0">
                <a:hlinkClick r:id="rId3"/>
              </a:rPr>
              <a:t>http://en.wikipedia.org/</a:t>
            </a:r>
            <a:endParaRPr lang="en-IE" dirty="0"/>
          </a:p>
          <a:p>
            <a:pPr lvl="1"/>
            <a:endParaRPr lang="en-IE" dirty="0"/>
          </a:p>
          <a:p>
            <a:r>
              <a:rPr lang="en-IE" dirty="0"/>
              <a:t>Send a request for wiki/Donald</a:t>
            </a:r>
          </a:p>
          <a:p>
            <a:pPr lvl="1"/>
            <a:r>
              <a:rPr lang="en-IE" dirty="0"/>
              <a:t>GET wiki/Donald HTTP/1.1</a:t>
            </a:r>
          </a:p>
        </p:txBody>
      </p:sp>
    </p:spTree>
    <p:extLst>
      <p:ext uri="{BB962C8B-B14F-4D97-AF65-F5344CB8AC3E}">
        <p14:creationId xmlns:p14="http://schemas.microsoft.com/office/powerpoint/2010/main" val="1092307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BF220-FC3F-4D42-993C-35339E38A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HTTP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F69B4-6441-485F-99FF-C747E3BA1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GET (links and some forms)</a:t>
            </a:r>
          </a:p>
          <a:p>
            <a:pPr lvl="1"/>
            <a:r>
              <a:rPr lang="en-IE" dirty="0"/>
              <a:t>Strictly speaking, when no changes are made on the server</a:t>
            </a:r>
          </a:p>
          <a:p>
            <a:pPr lvl="1"/>
            <a:r>
              <a:rPr lang="en-IE" dirty="0"/>
              <a:t>Query from a form for example</a:t>
            </a:r>
          </a:p>
          <a:p>
            <a:r>
              <a:rPr lang="en-IE" dirty="0"/>
              <a:t>POST (forms)</a:t>
            </a:r>
          </a:p>
          <a:p>
            <a:pPr lvl="1"/>
            <a:r>
              <a:rPr lang="en-IE" dirty="0"/>
              <a:t>When data is stored on the server</a:t>
            </a:r>
          </a:p>
          <a:p>
            <a:r>
              <a:rPr lang="en-IE" dirty="0"/>
              <a:t>HEAD</a:t>
            </a:r>
          </a:p>
          <a:p>
            <a:pPr lvl="1"/>
            <a:r>
              <a:rPr lang="en-IE" dirty="0"/>
              <a:t>Just get header information about a resource</a:t>
            </a:r>
          </a:p>
          <a:p>
            <a:r>
              <a:rPr lang="en-IE" dirty="0"/>
              <a:t>PUT</a:t>
            </a:r>
          </a:p>
          <a:p>
            <a:pPr lvl="1"/>
            <a:r>
              <a:rPr lang="en-IE" dirty="0"/>
              <a:t>Upload a resource to the server</a:t>
            </a:r>
          </a:p>
        </p:txBody>
      </p:sp>
    </p:spTree>
    <p:extLst>
      <p:ext uri="{BB962C8B-B14F-4D97-AF65-F5344CB8AC3E}">
        <p14:creationId xmlns:p14="http://schemas.microsoft.com/office/powerpoint/2010/main" val="3758437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78FD9-98DD-43D8-9D55-EE3CBC26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HTTP Methods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73870-5580-4326-84BE-95C6EC585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DELETE</a:t>
            </a:r>
          </a:p>
          <a:p>
            <a:pPr lvl="1"/>
            <a:r>
              <a:rPr lang="en-IE" dirty="0"/>
              <a:t>Delete a resource</a:t>
            </a:r>
          </a:p>
          <a:p>
            <a:endParaRPr lang="en-IE" dirty="0"/>
          </a:p>
          <a:p>
            <a:r>
              <a:rPr lang="en-IE" dirty="0"/>
              <a:t>TRACE</a:t>
            </a:r>
          </a:p>
          <a:p>
            <a:pPr lvl="1"/>
            <a:r>
              <a:rPr lang="en-IE" dirty="0"/>
              <a:t>Trace the message through Proxy Servers to the Server. The body of the response will contain the actual request the server received</a:t>
            </a:r>
          </a:p>
          <a:p>
            <a:pPr lvl="1"/>
            <a:endParaRPr lang="en-IE" dirty="0"/>
          </a:p>
          <a:p>
            <a:r>
              <a:rPr lang="en-IE" dirty="0"/>
              <a:t>OPTIONS</a:t>
            </a:r>
          </a:p>
          <a:p>
            <a:pPr lvl="1"/>
            <a:r>
              <a:rPr lang="en-IE" dirty="0"/>
              <a:t>Determines what methods are available on the server</a:t>
            </a:r>
          </a:p>
        </p:txBody>
      </p:sp>
    </p:spTree>
    <p:extLst>
      <p:ext uri="{BB962C8B-B14F-4D97-AF65-F5344CB8AC3E}">
        <p14:creationId xmlns:p14="http://schemas.microsoft.com/office/powerpoint/2010/main" val="886782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2387D-3486-4F93-920F-A6544096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HTTP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67E20-A054-4303-94FD-219C672DD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Request Line</a:t>
            </a:r>
          </a:p>
          <a:p>
            <a:pPr lvl="1"/>
            <a:r>
              <a:rPr lang="en-IE" dirty="0"/>
              <a:t>GET </a:t>
            </a:r>
            <a:r>
              <a:rPr lang="en-IE" dirty="0" err="1"/>
              <a:t>index.jsp</a:t>
            </a:r>
            <a:r>
              <a:rPr lang="en-IE" dirty="0"/>
              <a:t> HTTP/1.1</a:t>
            </a:r>
          </a:p>
          <a:p>
            <a:pPr lvl="1"/>
            <a:r>
              <a:rPr lang="en-IE" dirty="0"/>
              <a:t>POST </a:t>
            </a:r>
            <a:r>
              <a:rPr lang="en-IE" dirty="0" err="1"/>
              <a:t>myApp</a:t>
            </a:r>
            <a:r>
              <a:rPr lang="en-IE" dirty="0"/>
              <a:t>/book/update HTTP/1.1</a:t>
            </a:r>
          </a:p>
          <a:p>
            <a:pPr lvl="1"/>
            <a:endParaRPr lang="en-IE" dirty="0"/>
          </a:p>
          <a:p>
            <a:r>
              <a:rPr lang="en-IE" dirty="0"/>
              <a:t>Headers (Zero or more header fields followed by CRLF (carriage return line feed)</a:t>
            </a:r>
          </a:p>
          <a:p>
            <a:pPr lvl="1"/>
            <a:r>
              <a:rPr lang="en-IE" dirty="0"/>
              <a:t>Content-Type: text/plain</a:t>
            </a:r>
          </a:p>
          <a:p>
            <a:pPr lvl="1"/>
            <a:r>
              <a:rPr lang="en-IE" dirty="0"/>
              <a:t>Content-length: 19</a:t>
            </a:r>
          </a:p>
          <a:p>
            <a:r>
              <a:rPr lang="en-IE" dirty="0"/>
              <a:t>Empty Line with CRLF (Indicates end of header fields)</a:t>
            </a:r>
          </a:p>
          <a:p>
            <a:r>
              <a:rPr lang="en-IE" dirty="0"/>
              <a:t>Optional Body</a:t>
            </a:r>
          </a:p>
          <a:p>
            <a:pPr lvl="1"/>
            <a:r>
              <a:rPr lang="en-IE" dirty="0"/>
              <a:t>GET has none</a:t>
            </a:r>
          </a:p>
        </p:txBody>
      </p:sp>
    </p:spTree>
    <p:extLst>
      <p:ext uri="{BB962C8B-B14F-4D97-AF65-F5344CB8AC3E}">
        <p14:creationId xmlns:p14="http://schemas.microsoft.com/office/powerpoint/2010/main" val="393459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67F2-6640-46B3-9D0E-77ACB0749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HTTP Responses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A755C-CA0F-473E-881C-39A091420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Status Line</a:t>
            </a:r>
          </a:p>
          <a:p>
            <a:pPr lvl="1"/>
            <a:r>
              <a:rPr lang="en-IE" dirty="0"/>
              <a:t>HTTP/1.1 200 K</a:t>
            </a:r>
          </a:p>
          <a:p>
            <a:r>
              <a:rPr lang="en-IE" dirty="0"/>
              <a:t>Headers (Zero or more header fields followed by CRLF)</a:t>
            </a:r>
          </a:p>
          <a:p>
            <a:pPr lvl="1"/>
            <a:r>
              <a:rPr lang="en-IE" dirty="0"/>
              <a:t>Content-type: text/plain</a:t>
            </a:r>
          </a:p>
          <a:p>
            <a:pPr lvl="1"/>
            <a:r>
              <a:rPr lang="en-IE" dirty="0"/>
              <a:t>Content-length: 19</a:t>
            </a:r>
          </a:p>
          <a:p>
            <a:r>
              <a:rPr lang="en-IE" dirty="0"/>
              <a:t>Empty Line with CRLF (Indicates end of header fields)</a:t>
            </a:r>
          </a:p>
          <a:p>
            <a:r>
              <a:rPr lang="en-IE" dirty="0"/>
              <a:t>Optional Body</a:t>
            </a:r>
          </a:p>
          <a:p>
            <a:pPr lvl="1"/>
            <a:r>
              <a:rPr lang="en-IE" dirty="0"/>
              <a:t>Usually the content (HTML/Image etc.) </a:t>
            </a:r>
          </a:p>
        </p:txBody>
      </p:sp>
    </p:spTree>
    <p:extLst>
      <p:ext uri="{BB962C8B-B14F-4D97-AF65-F5344CB8AC3E}">
        <p14:creationId xmlns:p14="http://schemas.microsoft.com/office/powerpoint/2010/main" val="217249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94DD3-9786-4B6F-B936-0924833DE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HTTP Response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7F105-D54F-4645-85F1-5BA059ECF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Broken into families/range of codes</a:t>
            </a:r>
          </a:p>
          <a:p>
            <a:endParaRPr lang="en-IE" dirty="0"/>
          </a:p>
          <a:p>
            <a:pPr lvl="1"/>
            <a:r>
              <a:rPr lang="en-IE" dirty="0"/>
              <a:t>100-101 Informational</a:t>
            </a:r>
          </a:p>
          <a:p>
            <a:pPr lvl="1"/>
            <a:r>
              <a:rPr lang="en-IE" dirty="0"/>
              <a:t>200-206 Successful</a:t>
            </a:r>
          </a:p>
          <a:p>
            <a:pPr lvl="1"/>
            <a:r>
              <a:rPr lang="en-IE" dirty="0"/>
              <a:t>300-305 Redirection</a:t>
            </a:r>
          </a:p>
          <a:p>
            <a:pPr lvl="1"/>
            <a:r>
              <a:rPr lang="en-IE" dirty="0"/>
              <a:t>400-415 Client Error</a:t>
            </a:r>
          </a:p>
          <a:p>
            <a:pPr lvl="1"/>
            <a:r>
              <a:rPr lang="en-IE" dirty="0"/>
              <a:t>500-505 Server Error</a:t>
            </a:r>
          </a:p>
        </p:txBody>
      </p:sp>
    </p:spTree>
    <p:extLst>
      <p:ext uri="{BB962C8B-B14F-4D97-AF65-F5344CB8AC3E}">
        <p14:creationId xmlns:p14="http://schemas.microsoft.com/office/powerpoint/2010/main" val="2033112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003B-6D4D-42D0-9C43-AE5A4E84C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HTTP Response Codes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F2E58-A09A-456B-9660-9703FE61C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Code		Meaning</a:t>
            </a:r>
          </a:p>
          <a:p>
            <a:r>
              <a:rPr lang="en-IE" dirty="0"/>
              <a:t>100			Continue</a:t>
            </a:r>
          </a:p>
          <a:p>
            <a:r>
              <a:rPr lang="en-IE" dirty="0"/>
              <a:t>101			Switching Protocols</a:t>
            </a:r>
          </a:p>
          <a:p>
            <a:r>
              <a:rPr lang="en-IE" dirty="0"/>
              <a:t>200			OK</a:t>
            </a:r>
          </a:p>
          <a:p>
            <a:r>
              <a:rPr lang="en-IE" dirty="0"/>
              <a:t>201			Created</a:t>
            </a:r>
          </a:p>
          <a:p>
            <a:r>
              <a:rPr lang="en-IE" dirty="0"/>
              <a:t>202			Accepted</a:t>
            </a:r>
          </a:p>
          <a:p>
            <a:r>
              <a:rPr lang="en-IE" dirty="0"/>
              <a:t>204			No content</a:t>
            </a:r>
          </a:p>
          <a:p>
            <a:r>
              <a:rPr lang="en-IE" dirty="0"/>
              <a:t>205			Reset Content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183247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003B-6D4D-42D0-9C43-AE5A4E84C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HTTP Response Codes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F2E58-A09A-456B-9660-9703FE61C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Code		Meaning</a:t>
            </a:r>
          </a:p>
          <a:p>
            <a:r>
              <a:rPr lang="en-IE" dirty="0"/>
              <a:t>206			Partial Content</a:t>
            </a:r>
          </a:p>
          <a:p>
            <a:r>
              <a:rPr lang="en-IE" dirty="0"/>
              <a:t>300			Multiple Choices</a:t>
            </a:r>
          </a:p>
          <a:p>
            <a:r>
              <a:rPr lang="en-IE" dirty="0"/>
              <a:t>301			Moved permanently</a:t>
            </a:r>
          </a:p>
          <a:p>
            <a:r>
              <a:rPr lang="en-IE" dirty="0"/>
              <a:t>302			Moved temporarily</a:t>
            </a:r>
          </a:p>
          <a:p>
            <a:r>
              <a:rPr lang="en-IE" dirty="0"/>
              <a:t>303			See Other</a:t>
            </a:r>
          </a:p>
          <a:p>
            <a:r>
              <a:rPr lang="en-IE" dirty="0"/>
              <a:t>304			Not modified</a:t>
            </a:r>
          </a:p>
          <a:p>
            <a:r>
              <a:rPr lang="en-IE" dirty="0"/>
              <a:t>305			Use Proxy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714239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003B-6D4D-42D0-9C43-AE5A4E84C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HTTP Response Codes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F2E58-A09A-456B-9660-9703FE61C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Code		Meaning</a:t>
            </a:r>
          </a:p>
          <a:p>
            <a:r>
              <a:rPr lang="en-IE" dirty="0"/>
              <a:t>306			Unused/Reserved</a:t>
            </a:r>
          </a:p>
          <a:p>
            <a:r>
              <a:rPr lang="en-IE" dirty="0"/>
              <a:t>307			Moved temporarily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223870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003B-6D4D-42D0-9C43-AE5A4E84C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HTTP Response Codes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F2E58-A09A-456B-9660-9703FE61C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Total of 17 different 4XX codes. </a:t>
            </a:r>
          </a:p>
          <a:p>
            <a:pPr marL="0" indent="0">
              <a:buNone/>
            </a:pPr>
            <a:r>
              <a:rPr lang="en-IE" dirty="0"/>
              <a:t>(see https://www.tutorialspoint.com/http/http_status_codes.htm)  for full list</a:t>
            </a:r>
          </a:p>
          <a:p>
            <a:r>
              <a:rPr lang="en-IE" dirty="0"/>
              <a:t>Code		Meaning</a:t>
            </a:r>
          </a:p>
          <a:p>
            <a:r>
              <a:rPr lang="en-IE" dirty="0"/>
              <a:t>400			Bad request</a:t>
            </a:r>
          </a:p>
          <a:p>
            <a:r>
              <a:rPr lang="en-IE" dirty="0"/>
              <a:t>401			Unauthorized</a:t>
            </a:r>
          </a:p>
          <a:p>
            <a:r>
              <a:rPr lang="en-IE" dirty="0"/>
              <a:t>403			Forbidden</a:t>
            </a:r>
          </a:p>
          <a:p>
            <a:r>
              <a:rPr lang="en-IE" dirty="0"/>
              <a:t>404			Not found</a:t>
            </a:r>
          </a:p>
        </p:txBody>
      </p:sp>
    </p:spTree>
    <p:extLst>
      <p:ext uri="{BB962C8B-B14F-4D97-AF65-F5344CB8AC3E}">
        <p14:creationId xmlns:p14="http://schemas.microsoft.com/office/powerpoint/2010/main" val="1812738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003B-6D4D-42D0-9C43-AE5A4E84C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HTTP Response Codes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F2E58-A09A-456B-9660-9703FE61C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Code		Meaning</a:t>
            </a:r>
          </a:p>
          <a:p>
            <a:r>
              <a:rPr lang="en-IE" dirty="0"/>
              <a:t>500			Internal server error</a:t>
            </a:r>
          </a:p>
          <a:p>
            <a:r>
              <a:rPr lang="en-IE" dirty="0"/>
              <a:t>501			Not implemented</a:t>
            </a:r>
          </a:p>
          <a:p>
            <a:r>
              <a:rPr lang="en-IE" dirty="0"/>
              <a:t>502			Bad gateway</a:t>
            </a:r>
          </a:p>
          <a:p>
            <a:r>
              <a:rPr lang="en-IE" dirty="0"/>
              <a:t>503			Service unavailable</a:t>
            </a:r>
          </a:p>
          <a:p>
            <a:r>
              <a:rPr lang="en-IE" dirty="0"/>
              <a:t>504			Gateway Timeout</a:t>
            </a:r>
          </a:p>
          <a:p>
            <a:r>
              <a:rPr lang="en-IE" dirty="0"/>
              <a:t>505			HTTP Version not supported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917386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25C65-5BF5-42CB-9790-B752A35E6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HTTP Request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0A6A3-BB03-42FB-865C-50AEA8541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 list of name value pairs, separated by an &amp;.</a:t>
            </a:r>
          </a:p>
          <a:p>
            <a:endParaRPr lang="en-IE" dirty="0"/>
          </a:p>
          <a:p>
            <a:r>
              <a:rPr lang="en-IE" dirty="0"/>
              <a:t>If originating from a FORM, known as a form data set.</a:t>
            </a:r>
          </a:p>
          <a:p>
            <a:endParaRPr lang="en-IE" dirty="0"/>
          </a:p>
          <a:p>
            <a:r>
              <a:rPr lang="en-IE" dirty="0"/>
              <a:t>If used with a GET request, the parameters are appended to the URI.</a:t>
            </a:r>
          </a:p>
          <a:p>
            <a:endParaRPr lang="en-IE" dirty="0"/>
          </a:p>
          <a:p>
            <a:r>
              <a:rPr lang="en-IE" dirty="0"/>
              <a:t>If used with a POST request, the parameters are put in the body of the request.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78788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6BF86-1B99-4E18-A170-C761C999C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HTTP GET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AB8CE-A316-4DB6-AFBD-4E17FBF97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Request	</a:t>
            </a:r>
          </a:p>
          <a:p>
            <a:pPr marL="457200" lvl="1" indent="0">
              <a:buNone/>
            </a:pPr>
            <a:r>
              <a:rPr lang="en-IE" dirty="0"/>
              <a:t>	GET /</a:t>
            </a:r>
            <a:r>
              <a:rPr lang="en-IE" dirty="0" err="1"/>
              <a:t>myApp</a:t>
            </a:r>
            <a:r>
              <a:rPr lang="en-IE" dirty="0"/>
              <a:t>/</a:t>
            </a:r>
            <a:r>
              <a:rPr lang="en-IE" dirty="0" err="1"/>
              <a:t>insert?</a:t>
            </a:r>
            <a:r>
              <a:rPr lang="en-IE" b="1" dirty="0" err="1"/>
              <a:t>name</a:t>
            </a:r>
            <a:r>
              <a:rPr lang="en-IE" b="1" dirty="0"/>
              <a:t>=</a:t>
            </a:r>
            <a:r>
              <a:rPr lang="en-IE" b="1" dirty="0" err="1"/>
              <a:t>paul&amp;address</a:t>
            </a:r>
            <a:r>
              <a:rPr lang="en-IE" b="1" dirty="0"/>
              <a:t>=Athlone</a:t>
            </a:r>
          </a:p>
          <a:p>
            <a:pPr marL="457200" lvl="1" indent="0">
              <a:buNone/>
            </a:pPr>
            <a:endParaRPr lang="en-IE" dirty="0"/>
          </a:p>
          <a:p>
            <a:r>
              <a:rPr lang="en-IE" dirty="0"/>
              <a:t>Header Fields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lang="en-IE" dirty="0" err="1"/>
              <a:t>User-agent:Chrome</a:t>
            </a:r>
            <a:r>
              <a:rPr lang="en-IE" dirty="0"/>
              <a:t>/3.0.195.38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lang="en-IE" dirty="0" err="1"/>
              <a:t>Host:Host</a:t>
            </a:r>
            <a:endParaRPr lang="en-IE" dirty="0"/>
          </a:p>
          <a:p>
            <a:pPr marL="0" indent="0">
              <a:buNone/>
            </a:pPr>
            <a:r>
              <a:rPr lang="en-IE" dirty="0"/>
              <a:t>	</a:t>
            </a:r>
            <a:r>
              <a:rPr lang="en-IE" dirty="0" err="1"/>
              <a:t>Accept:application</a:t>
            </a:r>
            <a:r>
              <a:rPr lang="en-IE" dirty="0"/>
              <a:t>/</a:t>
            </a:r>
            <a:r>
              <a:rPr lang="en-IE" dirty="0" err="1"/>
              <a:t>xml,application</a:t>
            </a:r>
            <a:r>
              <a:rPr lang="en-IE" dirty="0"/>
              <a:t>/</a:t>
            </a:r>
            <a:r>
              <a:rPr lang="en-IE" dirty="0" err="1"/>
              <a:t>xhtml+xml,text</a:t>
            </a:r>
            <a:r>
              <a:rPr lang="en-IE" dirty="0"/>
              <a:t>/</a:t>
            </a:r>
            <a:r>
              <a:rPr lang="en-IE" dirty="0" err="1"/>
              <a:t>html;q</a:t>
            </a:r>
            <a:r>
              <a:rPr lang="en-IE" dirty="0"/>
              <a:t>=0.9,</a:t>
            </a:r>
          </a:p>
          <a:p>
            <a:pPr marL="0" indent="0">
              <a:buNone/>
            </a:pPr>
            <a:r>
              <a:rPr lang="en-IE" dirty="0"/>
              <a:t>	text/</a:t>
            </a:r>
            <a:r>
              <a:rPr lang="en-IE" dirty="0" err="1"/>
              <a:t>plain;q</a:t>
            </a:r>
            <a:r>
              <a:rPr lang="en-IE" dirty="0"/>
              <a:t>=0.8,image/</a:t>
            </a:r>
            <a:r>
              <a:rPr lang="en-IE" dirty="0" err="1"/>
              <a:t>png</a:t>
            </a:r>
            <a:r>
              <a:rPr lang="en-IE" dirty="0"/>
              <a:t>,*/*;q=0.5</a:t>
            </a:r>
          </a:p>
        </p:txBody>
      </p:sp>
    </p:spTree>
    <p:extLst>
      <p:ext uri="{BB962C8B-B14F-4D97-AF65-F5344CB8AC3E}">
        <p14:creationId xmlns:p14="http://schemas.microsoft.com/office/powerpoint/2010/main" val="900731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538FC-5EF6-42F7-9A1F-B46121B78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HTTP POST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6629D-88B2-4F54-9F1C-9E31CCCFD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E" dirty="0"/>
              <a:t>Request Line</a:t>
            </a:r>
          </a:p>
          <a:p>
            <a:pPr marL="0" indent="0">
              <a:buNone/>
            </a:pPr>
            <a:r>
              <a:rPr lang="en-IE" dirty="0"/>
              <a:t>	POST /</a:t>
            </a:r>
            <a:r>
              <a:rPr lang="en-IE" dirty="0" err="1"/>
              <a:t>myApp</a:t>
            </a:r>
            <a:r>
              <a:rPr lang="en-IE" dirty="0"/>
              <a:t>/insert</a:t>
            </a:r>
          </a:p>
          <a:p>
            <a:r>
              <a:rPr lang="en-IE" dirty="0"/>
              <a:t>Header Fields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lang="en-IE" dirty="0" err="1"/>
              <a:t>User-agent:Chrome</a:t>
            </a:r>
            <a:r>
              <a:rPr lang="en-IE" dirty="0"/>
              <a:t>/3.0.195.38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lang="en-IE" dirty="0" err="1"/>
              <a:t>Host:Host</a:t>
            </a:r>
            <a:endParaRPr lang="en-IE" dirty="0"/>
          </a:p>
          <a:p>
            <a:pPr marL="0" indent="0">
              <a:buNone/>
            </a:pPr>
            <a:r>
              <a:rPr lang="en-IE" dirty="0"/>
              <a:t>	</a:t>
            </a:r>
            <a:r>
              <a:rPr lang="en-IE" dirty="0" err="1"/>
              <a:t>Accept:application</a:t>
            </a:r>
            <a:r>
              <a:rPr lang="en-IE" dirty="0"/>
              <a:t>/</a:t>
            </a:r>
            <a:r>
              <a:rPr lang="en-IE" dirty="0" err="1"/>
              <a:t>xml,application</a:t>
            </a:r>
            <a:r>
              <a:rPr lang="en-IE" dirty="0"/>
              <a:t>/</a:t>
            </a:r>
            <a:r>
              <a:rPr lang="en-IE" dirty="0" err="1"/>
              <a:t>xhtml+xml,text</a:t>
            </a:r>
            <a:r>
              <a:rPr lang="en-IE" dirty="0"/>
              <a:t>/</a:t>
            </a:r>
            <a:r>
              <a:rPr lang="en-IE" dirty="0" err="1"/>
              <a:t>html;q</a:t>
            </a:r>
            <a:r>
              <a:rPr lang="en-IE" dirty="0"/>
              <a:t>=0.9,</a:t>
            </a:r>
          </a:p>
          <a:p>
            <a:pPr marL="0" indent="0">
              <a:buNone/>
            </a:pPr>
            <a:r>
              <a:rPr lang="en-IE" dirty="0"/>
              <a:t>	text/</a:t>
            </a:r>
            <a:r>
              <a:rPr lang="en-IE" dirty="0" err="1"/>
              <a:t>plain;q</a:t>
            </a:r>
            <a:r>
              <a:rPr lang="en-IE" dirty="0"/>
              <a:t>=0.8,image/</a:t>
            </a:r>
            <a:r>
              <a:rPr lang="en-IE" dirty="0" err="1"/>
              <a:t>png</a:t>
            </a:r>
            <a:r>
              <a:rPr lang="en-IE" dirty="0"/>
              <a:t>,*/*;q=0.5</a:t>
            </a:r>
          </a:p>
          <a:p>
            <a:pPr marL="0" indent="0">
              <a:buNone/>
            </a:pPr>
            <a:r>
              <a:rPr lang="en-IE" dirty="0"/>
              <a:t>	Content-length:25</a:t>
            </a:r>
          </a:p>
          <a:p>
            <a:r>
              <a:rPr lang="en-IE" dirty="0"/>
              <a:t>Empty Line</a:t>
            </a:r>
          </a:p>
          <a:p>
            <a:r>
              <a:rPr lang="en-IE" dirty="0"/>
              <a:t>Body</a:t>
            </a:r>
          </a:p>
          <a:p>
            <a:pPr marL="0" indent="0">
              <a:buNone/>
            </a:pPr>
            <a:r>
              <a:rPr lang="en-IE" b="1" dirty="0"/>
              <a:t>	name=</a:t>
            </a:r>
            <a:r>
              <a:rPr lang="en-IE" b="1" dirty="0" err="1"/>
              <a:t>paul&amp;address</a:t>
            </a:r>
            <a:r>
              <a:rPr lang="en-IE" b="1" dirty="0"/>
              <a:t>=</a:t>
            </a:r>
            <a:r>
              <a:rPr lang="en-IE" b="1" dirty="0" err="1"/>
              <a:t>athlone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22934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D63AF-8EAE-42CE-A5D0-D7993BA4F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Web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99B8B-247F-439B-865F-E037C4F56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Static Web pages written in HTML.</a:t>
            </a:r>
          </a:p>
          <a:p>
            <a:endParaRPr lang="en-IE" dirty="0"/>
          </a:p>
          <a:p>
            <a:r>
              <a:rPr lang="en-IE" dirty="0"/>
              <a:t>The Web server reads the HTML file off the disk and sends it to the client (Web Browser).</a:t>
            </a:r>
          </a:p>
          <a:p>
            <a:endParaRPr lang="en-IE" dirty="0"/>
          </a:p>
          <a:p>
            <a:r>
              <a:rPr lang="en-IE" dirty="0"/>
              <a:t>Dynamic Page generated by a Web Application.</a:t>
            </a:r>
          </a:p>
          <a:p>
            <a:endParaRPr lang="en-IE" dirty="0"/>
          </a:p>
          <a:p>
            <a:r>
              <a:rPr lang="en-IE" dirty="0"/>
              <a:t>Often we don′t know (or care).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28363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83AF8-7CEB-497A-A087-0E7E59B16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Web Application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F5FF9-D2D1-433E-BCCF-0D0BABB5F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Java (lots)</a:t>
            </a:r>
          </a:p>
          <a:p>
            <a:r>
              <a:rPr lang="en-IE" dirty="0"/>
              <a:t>PHP</a:t>
            </a:r>
          </a:p>
          <a:p>
            <a:r>
              <a:rPr lang="en-IE" dirty="0"/>
              <a:t>C# and </a:t>
            </a:r>
            <a:r>
              <a:rPr lang="en-IE" dirty="0" err="1"/>
              <a:t>.net</a:t>
            </a:r>
            <a:endParaRPr lang="en-IE" dirty="0"/>
          </a:p>
          <a:p>
            <a:r>
              <a:rPr lang="en-IE" dirty="0"/>
              <a:t>Ruby (on Rails)</a:t>
            </a:r>
          </a:p>
          <a:p>
            <a:r>
              <a:rPr lang="en-IE" dirty="0"/>
              <a:t>Groovy (&amp; Grails)</a:t>
            </a:r>
          </a:p>
          <a:p>
            <a:r>
              <a:rPr lang="en-IE" dirty="0"/>
              <a:t>Python (Django)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7043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D9E4D-3A16-44E9-BE06-5BDE7274C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Web Application Frameworks -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387E3-7F43-4A9D-829E-F269DD4E2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Java Servlets is the basis for most Java based frameworks.</a:t>
            </a:r>
          </a:p>
          <a:p>
            <a:r>
              <a:rPr lang="en-IE" dirty="0"/>
              <a:t>Java Server Pages (JSP) is often used with Servlets.</a:t>
            </a:r>
          </a:p>
          <a:p>
            <a:r>
              <a:rPr lang="en-IE" dirty="0"/>
              <a:t>Apache Struts, JSF, GWT</a:t>
            </a:r>
          </a:p>
          <a:p>
            <a:r>
              <a:rPr lang="en-IE" dirty="0"/>
              <a:t>Spring MVC (Model View Controller), Roo</a:t>
            </a:r>
          </a:p>
          <a:p>
            <a:r>
              <a:rPr lang="en-IE" dirty="0"/>
              <a:t>Groovy and Grails</a:t>
            </a:r>
          </a:p>
          <a:p>
            <a:r>
              <a:rPr lang="en-IE" dirty="0"/>
              <a:t>Java based as Groovy is completely interoperable with Java.</a:t>
            </a:r>
          </a:p>
          <a:p>
            <a:r>
              <a:rPr lang="en-IE" dirty="0"/>
              <a:t>Grails based on the Spring Framework.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95483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1013B-F963-48CA-B248-2BF09C668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Web Servers – Java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82A39-1B63-4D25-B3F4-63AD88F71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Most Web servers are now also Servlet/JSP containers.</a:t>
            </a:r>
          </a:p>
          <a:p>
            <a:r>
              <a:rPr lang="en-IE" dirty="0"/>
              <a:t>This means that they can:</a:t>
            </a:r>
          </a:p>
          <a:p>
            <a:r>
              <a:rPr lang="en-IE" dirty="0"/>
              <a:t>accept GET and POST requests</a:t>
            </a:r>
          </a:p>
          <a:p>
            <a:r>
              <a:rPr lang="en-IE" dirty="0"/>
              <a:t>start the appropriate Java servlet</a:t>
            </a:r>
          </a:p>
          <a:p>
            <a:r>
              <a:rPr lang="en-IE" dirty="0"/>
              <a:t>pass data to the servlet for processing</a:t>
            </a:r>
          </a:p>
          <a:p>
            <a:r>
              <a:rPr lang="en-IE" dirty="0"/>
              <a:t>accept HTML back from the servlet</a:t>
            </a:r>
          </a:p>
          <a:p>
            <a:r>
              <a:rPr lang="en-IE" dirty="0"/>
              <a:t>pass it back to the client</a:t>
            </a:r>
          </a:p>
          <a:p>
            <a:r>
              <a:rPr lang="en-IE" dirty="0"/>
              <a:t>(JSPs are compiled (translated) into Servlets.)</a:t>
            </a:r>
          </a:p>
        </p:txBody>
      </p:sp>
    </p:spTree>
    <p:extLst>
      <p:ext uri="{BB962C8B-B14F-4D97-AF65-F5344CB8AC3E}">
        <p14:creationId xmlns:p14="http://schemas.microsoft.com/office/powerpoint/2010/main" val="2279386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2EB15-C2DC-4DC0-B725-8BB351523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Terms – Web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07012-4411-4058-8773-BFE6E0603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Web Server</a:t>
            </a:r>
          </a:p>
          <a:p>
            <a:endParaRPr lang="en-IE" dirty="0"/>
          </a:p>
          <a:p>
            <a:r>
              <a:rPr lang="en-IE" dirty="0"/>
              <a:t>serve up Web pages (Apache)</a:t>
            </a:r>
          </a:p>
          <a:p>
            <a:endParaRPr lang="en-IE" dirty="0"/>
          </a:p>
          <a:p>
            <a:r>
              <a:rPr lang="en-IE" dirty="0"/>
              <a:t>most handle Java based Web Applications as well (Apache Tomcat)</a:t>
            </a:r>
          </a:p>
          <a:p>
            <a:endParaRPr lang="en-IE" dirty="0"/>
          </a:p>
          <a:p>
            <a:r>
              <a:rPr lang="en-IE" dirty="0"/>
              <a:t>became know as Application Servers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826920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F746D-0811-488F-85E7-5E6F7ADBC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Terms – Application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244B9-E62F-4788-BF56-CD4145790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Application Servers</a:t>
            </a:r>
          </a:p>
          <a:p>
            <a:pPr lvl="1"/>
            <a:r>
              <a:rPr lang="en-IE" dirty="0"/>
              <a:t>Handle Java based Web Applications</a:t>
            </a:r>
          </a:p>
          <a:p>
            <a:pPr lvl="1"/>
            <a:endParaRPr lang="en-IE" dirty="0"/>
          </a:p>
          <a:p>
            <a:r>
              <a:rPr lang="en-IE" dirty="0"/>
              <a:t>Also started to provide much more, such as:</a:t>
            </a:r>
          </a:p>
          <a:p>
            <a:pPr lvl="1"/>
            <a:r>
              <a:rPr lang="en-IE" dirty="0"/>
              <a:t>transaction support</a:t>
            </a:r>
          </a:p>
          <a:p>
            <a:pPr lvl="1"/>
            <a:r>
              <a:rPr lang="en-IE" dirty="0"/>
              <a:t>security support</a:t>
            </a:r>
          </a:p>
          <a:p>
            <a:pPr lvl="1"/>
            <a:r>
              <a:rPr lang="en-IE" dirty="0"/>
              <a:t>range of other services</a:t>
            </a:r>
          </a:p>
          <a:p>
            <a:pPr lvl="1"/>
            <a:endParaRPr lang="en-IE" dirty="0"/>
          </a:p>
          <a:p>
            <a:r>
              <a:rPr lang="en-IE" dirty="0"/>
              <a:t>JBoss, Glassfish, WebLogic, WebSphere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36242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F084D-02B8-4BF4-A433-4294199AE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Terms -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D1BC-8401-4756-BF7D-F77D80721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We can think of the Application Server as a container which can contain:</a:t>
            </a:r>
          </a:p>
          <a:p>
            <a:pPr lvl="1"/>
            <a:r>
              <a:rPr lang="en-IE" dirty="0"/>
              <a:t>Web Applications</a:t>
            </a:r>
          </a:p>
          <a:p>
            <a:pPr lvl="1"/>
            <a:r>
              <a:rPr lang="fr-FR" dirty="0"/>
              <a:t>Enterprise Java </a:t>
            </a:r>
            <a:r>
              <a:rPr lang="fr-FR" dirty="0" err="1"/>
              <a:t>Beans</a:t>
            </a:r>
            <a:r>
              <a:rPr lang="fr-FR" dirty="0"/>
              <a:t> (EJB) components</a:t>
            </a:r>
          </a:p>
          <a:p>
            <a:pPr lvl="1"/>
            <a:endParaRPr lang="fr-FR" dirty="0"/>
          </a:p>
          <a:p>
            <a:r>
              <a:rPr lang="en-IE" dirty="0"/>
              <a:t>The Application Server can accept requests and pass them to the contained Web Application.</a:t>
            </a:r>
          </a:p>
          <a:p>
            <a:endParaRPr lang="en-IE" dirty="0"/>
          </a:p>
          <a:p>
            <a:r>
              <a:rPr lang="en-IE" dirty="0"/>
              <a:t>Servlet Container, EJB container, -most Application servers are both.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2410584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DA7FD-DE04-474C-BFD7-D50985675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Application Server as a Container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42EA40E-7BA1-4B7B-B1BC-840E349A6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3412" y="1766888"/>
            <a:ext cx="7342188" cy="449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416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DD808-C13C-40D4-A10C-3145B186D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Alternatively – Web Application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3EF44A-3476-4906-83F9-971DB7E02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8706" y="1642573"/>
            <a:ext cx="7494588" cy="482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561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3FF23-71AD-4432-8B78-C01C30A56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Typical Web Applications in Java/Groovy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D1FE9-B492-4B71-BCCC-F2A3624A6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Some HTML pages.</a:t>
            </a:r>
          </a:p>
          <a:p>
            <a:r>
              <a:rPr lang="en-IE" dirty="0"/>
              <a:t>Forms.</a:t>
            </a:r>
          </a:p>
          <a:p>
            <a:r>
              <a:rPr lang="en-IE" dirty="0"/>
              <a:t>Form Processing Agents</a:t>
            </a:r>
          </a:p>
          <a:p>
            <a:r>
              <a:rPr lang="en-IE" dirty="0"/>
              <a:t>Either Java Servlets and/or Java Server Pages (JSP) to process form data.</a:t>
            </a:r>
          </a:p>
          <a:p>
            <a:r>
              <a:rPr lang="en-IE" dirty="0"/>
              <a:t>Or built on top of Servlets and developed using some Web Application Framework such as Grails.</a:t>
            </a:r>
          </a:p>
          <a:p>
            <a:r>
              <a:rPr lang="en-IE" dirty="0"/>
              <a:t>Database backend.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4280362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8CF67-923B-4C94-A9E3-9D48FEB2C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J2EE Servlet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B8674-232A-42A4-9854-D8DD76C75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Part of the J2EE specification</a:t>
            </a:r>
          </a:p>
          <a:p>
            <a:r>
              <a:rPr lang="en-IE" dirty="0"/>
              <a:t>Java Enterprise Edition.</a:t>
            </a:r>
          </a:p>
          <a:p>
            <a:r>
              <a:rPr lang="en-IE" dirty="0"/>
              <a:t>Specifies how a Web Application is deployed to a Web/Application Server such as Tomcat.</a:t>
            </a:r>
          </a:p>
          <a:p>
            <a:r>
              <a:rPr lang="en-IE" dirty="0"/>
              <a:t>Typically the Application Server is going to expect resource files to be in a certain location.</a:t>
            </a:r>
          </a:p>
          <a:p>
            <a:r>
              <a:rPr lang="en-IE" dirty="0"/>
              <a:t>So when we develop our Web applications, we are going to use a quite specific directory structure for that Web Application.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64054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58B27-BCDC-4CA9-A693-DE38373C8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WAR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5D856-9E20-48B2-926C-8EFC7B18D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Packaging for a Web Application.</a:t>
            </a:r>
          </a:p>
          <a:p>
            <a:r>
              <a:rPr lang="de-DE" dirty="0"/>
              <a:t>WAR –Web Archive (.war extension)</a:t>
            </a:r>
          </a:p>
          <a:p>
            <a:r>
              <a:rPr lang="en-IE" dirty="0"/>
              <a:t>Like a JAR file, it is just a zipped folder.</a:t>
            </a:r>
          </a:p>
          <a:p>
            <a:r>
              <a:rPr lang="en-IE" dirty="0"/>
              <a:t>Normally when a Web application is deployed, it is first converted to a WAR file.</a:t>
            </a:r>
          </a:p>
          <a:p>
            <a:r>
              <a:rPr lang="en-IE" dirty="0"/>
              <a:t>Then it is deployed to a Web Container, that is it is copied to some specific location.</a:t>
            </a:r>
          </a:p>
          <a:p>
            <a:r>
              <a:rPr lang="en-IE" dirty="0"/>
              <a:t>[For development and testing, WAR files would typically not be generated.]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499611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673E-9930-4B8A-A5CF-C58536225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Server Side Web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AEEC3-5764-454E-B327-2DEB52730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Java based Web Application Frameworks are all based on Java Servlets</a:t>
            </a:r>
          </a:p>
          <a:p>
            <a:endParaRPr lang="en-IE" dirty="0"/>
          </a:p>
          <a:p>
            <a:r>
              <a:rPr lang="en-IE" dirty="0"/>
              <a:t>We will look at Java Servlets and JSP (Java Server Pages)</a:t>
            </a:r>
          </a:p>
        </p:txBody>
      </p:sp>
    </p:spTree>
    <p:extLst>
      <p:ext uri="{BB962C8B-B14F-4D97-AF65-F5344CB8AC3E}">
        <p14:creationId xmlns:p14="http://schemas.microsoft.com/office/powerpoint/2010/main" val="9902172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D26B-6D0D-4036-8DEF-01AE1649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MVC (Model View Controller)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3DDD3-0F84-4BE5-97A3-6C803CC84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This architecture is now widely used for Web Development</a:t>
            </a:r>
          </a:p>
          <a:p>
            <a:endParaRPr lang="en-IE" dirty="0"/>
          </a:p>
          <a:p>
            <a:r>
              <a:rPr lang="en-IE" dirty="0"/>
              <a:t>We will adopt this architecture as much as possible with Servlets and JSP</a:t>
            </a:r>
          </a:p>
          <a:p>
            <a:endParaRPr lang="en-IE" dirty="0"/>
          </a:p>
          <a:p>
            <a:r>
              <a:rPr lang="en-IE" dirty="0"/>
              <a:t>Other Web Development Frameworks (Grails) force us into using it</a:t>
            </a:r>
          </a:p>
        </p:txBody>
      </p:sp>
    </p:spTree>
    <p:extLst>
      <p:ext uri="{BB962C8B-B14F-4D97-AF65-F5344CB8AC3E}">
        <p14:creationId xmlns:p14="http://schemas.microsoft.com/office/powerpoint/2010/main" val="30639955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89385-38BC-40CC-8590-CECB58E03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MVC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7DB23-5A53-4C4E-B133-9D04A2FD0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Model (short for domain model)</a:t>
            </a:r>
          </a:p>
          <a:p>
            <a:pPr lvl="1"/>
            <a:r>
              <a:rPr lang="en-IE" dirty="0"/>
              <a:t>The classes in your application, modelling objects in the real world (application domain)</a:t>
            </a:r>
          </a:p>
          <a:p>
            <a:pPr marL="457200" lvl="1" indent="0">
              <a:buNone/>
            </a:pPr>
            <a:endParaRPr lang="en-IE" dirty="0"/>
          </a:p>
          <a:p>
            <a:r>
              <a:rPr lang="en-IE" dirty="0"/>
              <a:t>View</a:t>
            </a:r>
          </a:p>
          <a:p>
            <a:pPr lvl="1"/>
            <a:r>
              <a:rPr lang="en-IE" dirty="0"/>
              <a:t>The part of your application that generates the pages that the user sees</a:t>
            </a:r>
          </a:p>
          <a:p>
            <a:pPr marL="457200" lvl="1" indent="0">
              <a:buNone/>
            </a:pPr>
            <a:endParaRPr lang="en-IE" dirty="0"/>
          </a:p>
          <a:p>
            <a:r>
              <a:rPr lang="en-IE" dirty="0"/>
              <a:t>Controller</a:t>
            </a:r>
          </a:p>
          <a:p>
            <a:pPr lvl="1"/>
            <a:r>
              <a:rPr lang="en-IE" dirty="0"/>
              <a:t>Receives the HTTP requests and carries out certain actions</a:t>
            </a:r>
          </a:p>
        </p:txBody>
      </p:sp>
    </p:spTree>
    <p:extLst>
      <p:ext uri="{BB962C8B-B14F-4D97-AF65-F5344CB8AC3E}">
        <p14:creationId xmlns:p14="http://schemas.microsoft.com/office/powerpoint/2010/main" val="14841207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0F873-4B76-44D4-887C-19E0C2E6E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Web Development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E6785-DE0D-4376-8BE4-5D064E8B7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Languages</a:t>
            </a:r>
          </a:p>
          <a:p>
            <a:r>
              <a:rPr lang="en-IE" dirty="0"/>
              <a:t>Java (Groovy)</a:t>
            </a:r>
          </a:p>
          <a:p>
            <a:r>
              <a:rPr lang="en-IE" dirty="0"/>
              <a:t>View technology – JSP (GSP)</a:t>
            </a:r>
          </a:p>
          <a:p>
            <a:r>
              <a:rPr lang="en-IE" dirty="0"/>
              <a:t>HTML</a:t>
            </a:r>
          </a:p>
          <a:p>
            <a:r>
              <a:rPr lang="en-IE" dirty="0"/>
              <a:t>CSS</a:t>
            </a:r>
          </a:p>
          <a:p>
            <a:r>
              <a:rPr lang="en-IE" dirty="0" err="1"/>
              <a:t>javascript</a:t>
            </a:r>
            <a:endParaRPr lang="en-IE" dirty="0"/>
          </a:p>
          <a:p>
            <a:r>
              <a:rPr lang="en-IE" dirty="0" err="1"/>
              <a:t>javascript</a:t>
            </a:r>
            <a:r>
              <a:rPr lang="en-IE" dirty="0"/>
              <a:t> libraries</a:t>
            </a:r>
          </a:p>
          <a:p>
            <a:r>
              <a:rPr lang="en-IE" dirty="0"/>
              <a:t>Configuration files (XML/DSLs)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AB0EFB-950F-4302-8AA5-85A9919AD531}"/>
              </a:ext>
            </a:extLst>
          </p:cNvPr>
          <p:cNvSpPr txBox="1"/>
          <p:nvPr/>
        </p:nvSpPr>
        <p:spPr>
          <a:xfrm>
            <a:off x="7162800" y="2108200"/>
            <a:ext cx="330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The individual files may be simple enough, but there is complexity in the relationships between them</a:t>
            </a:r>
          </a:p>
        </p:txBody>
      </p:sp>
    </p:spTree>
    <p:extLst>
      <p:ext uri="{BB962C8B-B14F-4D97-AF65-F5344CB8AC3E}">
        <p14:creationId xmlns:p14="http://schemas.microsoft.com/office/powerpoint/2010/main" val="19188925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493E2-CE31-451B-B9D1-FCE716AC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C32BA-91D3-4076-BD8D-23DE27FD2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/>
              <a:t>http</a:t>
            </a:r>
            <a:r>
              <a:rPr lang="en-IE" dirty="0"/>
              <a:t>://www.w3schools.com/html/default.asp</a:t>
            </a:r>
          </a:p>
          <a:p>
            <a:r>
              <a:rPr lang="en-IE" dirty="0"/>
              <a:t>http://www.tutorialspoint.com/jsp/index.htm</a:t>
            </a:r>
          </a:p>
          <a:p>
            <a:r>
              <a:rPr lang="en-IE" dirty="0"/>
              <a:t>http://www.tutorialspoint.com/jsp/jsp_standard_tag_library.htm</a:t>
            </a:r>
          </a:p>
          <a:p>
            <a:r>
              <a:rPr lang="en-IE" dirty="0"/>
              <a:t>http://courses.coreservlets.com/Course-Materials/csajsp2.html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33846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1614</TotalTime>
  <Words>1631</Words>
  <Application>Microsoft Office PowerPoint</Application>
  <PresentationFormat>Widescreen</PresentationFormat>
  <Paragraphs>267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Office Theme</vt:lpstr>
      <vt:lpstr>Server-side Web Development</vt:lpstr>
      <vt:lpstr>HTTP Review</vt:lpstr>
      <vt:lpstr>HTTP Requests and Responses</vt:lpstr>
      <vt:lpstr>URIs and URLs</vt:lpstr>
      <vt:lpstr>Requesting a Resource</vt:lpstr>
      <vt:lpstr>HTTP Methods</vt:lpstr>
      <vt:lpstr>HTTP Methods (continued)</vt:lpstr>
      <vt:lpstr>HTTP Requests</vt:lpstr>
      <vt:lpstr>HTTP Responses</vt:lpstr>
      <vt:lpstr>HTTP Response Codes</vt:lpstr>
      <vt:lpstr>HTTP Response Codes (continued)</vt:lpstr>
      <vt:lpstr>HTTP Response Codes (continued)</vt:lpstr>
      <vt:lpstr>HTTP Response Codes (continued)</vt:lpstr>
      <vt:lpstr>HTTP Response Codes (continued)</vt:lpstr>
      <vt:lpstr>HTTP Response Codes (continued)</vt:lpstr>
      <vt:lpstr>HTTP Request Parameters</vt:lpstr>
      <vt:lpstr>HTTP GET - Example</vt:lpstr>
      <vt:lpstr>HTTP POST - Example</vt:lpstr>
      <vt:lpstr>Web Resources</vt:lpstr>
      <vt:lpstr>Web Application Frameworks</vt:lpstr>
      <vt:lpstr>Web Application Frameworks - Java</vt:lpstr>
      <vt:lpstr>Web Servers – Java Support</vt:lpstr>
      <vt:lpstr>Terms – Web Server</vt:lpstr>
      <vt:lpstr>Terms – Application Server</vt:lpstr>
      <vt:lpstr>Terms - Container</vt:lpstr>
      <vt:lpstr>Application Server as a Container</vt:lpstr>
      <vt:lpstr>Alternatively – Web Application</vt:lpstr>
      <vt:lpstr>Typical Web Applications in Java/Groovy</vt:lpstr>
      <vt:lpstr>J2EE Servlet Specification</vt:lpstr>
      <vt:lpstr>WAR File</vt:lpstr>
      <vt:lpstr>Server Side Web Development</vt:lpstr>
      <vt:lpstr>MVC (Model View Controller) Architecture</vt:lpstr>
      <vt:lpstr>MVC Architecture</vt:lpstr>
      <vt:lpstr>Web Development Complexity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Apps and Connected Devices</dc:title>
  <dc:creator>CURRAN, MARTINA</dc:creator>
  <cp:lastModifiedBy>techstaff</cp:lastModifiedBy>
  <cp:revision>23</cp:revision>
  <dcterms:created xsi:type="dcterms:W3CDTF">2019-08-12T15:58:15Z</dcterms:created>
  <dcterms:modified xsi:type="dcterms:W3CDTF">2020-09-21T18:47:15Z</dcterms:modified>
</cp:coreProperties>
</file>